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9" r:id="rId4"/>
    <p:sldId id="260" r:id="rId5"/>
    <p:sldId id="272" r:id="rId6"/>
    <p:sldId id="261" r:id="rId7"/>
    <p:sldId id="262" r:id="rId8"/>
    <p:sldId id="263" r:id="rId9"/>
    <p:sldId id="264" r:id="rId10"/>
    <p:sldId id="265" r:id="rId11"/>
    <p:sldId id="266" r:id="rId12"/>
    <p:sldId id="267" r:id="rId13"/>
    <p:sldId id="277" r:id="rId14"/>
    <p:sldId id="273" r:id="rId15"/>
    <p:sldId id="274" r:id="rId16"/>
    <p:sldId id="275" r:id="rId17"/>
    <p:sldId id="276" r:id="rId18"/>
    <p:sldId id="271" r:id="rId19"/>
  </p:sldIdLst>
  <p:sldSz cx="9144000" cy="5143500" type="screen16x9"/>
  <p:notesSz cx="6858000" cy="9144000"/>
  <p:embeddedFontLst>
    <p:embeddedFont>
      <p:font typeface="Lato" panose="020F0502020204030203" pitchFamily="34" charset="0"/>
      <p:regular r:id="rId21"/>
      <p:bold r:id="rId22"/>
      <p:italic r:id="rId23"/>
      <p:boldItalic r:id="rId24"/>
    </p:embeddedFont>
    <p:embeddedFont>
      <p:font typeface="Montserrat" panose="00000500000000000000" pitchFamily="2" charset="0"/>
      <p:regular r:id="rId25"/>
      <p:bold r:id="rId26"/>
      <p:italic r:id="rId27"/>
      <p:boldItalic r:id="rId28"/>
    </p:embeddedFont>
    <p:embeddedFont>
      <p:font typeface="Segoe UI" panose="020B0502040204020203"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71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fd6a1a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fd6a1a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adf635cc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adf635cc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fd6a1ad4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fd948d0ee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fd948d0ee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245a1bb278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245a1bb27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245a1bb27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245a1bb27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245a1bb278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245a1bb27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efd6a1ad4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efd6a1ad4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adf635cc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fadf635ccc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fadf635ccc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emf"/><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AUDIT : </a:t>
            </a:r>
            <a:br>
              <a:rPr lang="fr"/>
            </a:br>
            <a:r>
              <a:rPr lang="fr"/>
              <a:t>Erreur sur le Cube OLAP </a:t>
            </a:r>
            <a:endParaRPr/>
          </a:p>
        </p:txBody>
      </p:sp>
      <p:pic>
        <p:nvPicPr>
          <p:cNvPr id="135" name="Google Shape;135;p13"/>
          <p:cNvPicPr preferRelativeResize="0"/>
          <p:nvPr/>
        </p:nvPicPr>
        <p:blipFill>
          <a:blip r:embed="rId3">
            <a:alphaModFix/>
          </a:blip>
          <a:stretch>
            <a:fillRect/>
          </a:stretch>
        </p:blipFill>
        <p:spPr>
          <a:xfrm>
            <a:off x="7196750" y="3514725"/>
            <a:ext cx="1733550" cy="1381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Présentation de la mission</a:t>
            </a:r>
            <a:endParaRPr/>
          </a:p>
        </p:txBody>
      </p:sp>
      <p:sp>
        <p:nvSpPr>
          <p:cNvPr id="141" name="Google Shape;141;p1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fr-FR" dirty="0"/>
              <a:t>Besoin du pôle Business Intelligence de comprendre les incohérences dans les données utilisées par les analystes de données.</a:t>
            </a:r>
          </a:p>
          <a:p>
            <a:pPr marL="0" lvl="0" indent="0" algn="l" rtl="0">
              <a:spcBef>
                <a:spcPts val="0"/>
              </a:spcBef>
              <a:spcAft>
                <a:spcPts val="1200"/>
              </a:spcAft>
              <a:buNone/>
            </a:pPr>
            <a:r>
              <a:rPr lang="fr-FR" dirty="0"/>
              <a:t>Investiguer les données de la base OLAP:</a:t>
            </a:r>
          </a:p>
          <a:p>
            <a:pPr marL="285750" lvl="0" indent="-285750" algn="l" rtl="0">
              <a:spcBef>
                <a:spcPts val="0"/>
              </a:spcBef>
              <a:spcAft>
                <a:spcPts val="1200"/>
              </a:spcAft>
              <a:buFontTx/>
              <a:buChar char="-"/>
            </a:pPr>
            <a:r>
              <a:rPr lang="fr-FR" dirty="0"/>
              <a:t>Dictionnaire de données</a:t>
            </a:r>
          </a:p>
          <a:p>
            <a:pPr marL="285750" lvl="0" indent="-285750" algn="l" rtl="0">
              <a:spcBef>
                <a:spcPts val="0"/>
              </a:spcBef>
              <a:spcAft>
                <a:spcPts val="1200"/>
              </a:spcAft>
              <a:buFontTx/>
              <a:buChar char="-"/>
            </a:pPr>
            <a:r>
              <a:rPr lang="fr-FR" dirty="0"/>
              <a:t>Schéma relationnel</a:t>
            </a:r>
          </a:p>
          <a:p>
            <a:pPr marL="0" lvl="0" indent="0" algn="l" rtl="0">
              <a:spcBef>
                <a:spcPts val="0"/>
              </a:spcBef>
              <a:spcAft>
                <a:spcPts val="1200"/>
              </a:spcAft>
              <a:buNone/>
            </a:pPr>
            <a:r>
              <a:rPr lang="fr-FR" dirty="0"/>
              <a:t>Confirmer les chiffres qui ressortent dans Power BI:</a:t>
            </a:r>
          </a:p>
          <a:p>
            <a:pPr marL="0" lvl="0" indent="0" algn="l" rtl="0">
              <a:spcBef>
                <a:spcPts val="0"/>
              </a:spcBef>
              <a:spcAft>
                <a:spcPts val="1200"/>
              </a:spcAft>
              <a:buNone/>
            </a:pPr>
            <a:r>
              <a:rPr lang="fr-FR" dirty="0"/>
              <a:t>- le chiffre d’affaires total pour le 14 août (275 186,59€ ou 284 243,88€) ;</a:t>
            </a:r>
          </a:p>
          <a:p>
            <a:pPr marL="0" lvl="0" indent="0" algn="l" rtl="0">
              <a:spcBef>
                <a:spcPts val="0"/>
              </a:spcBef>
              <a:spcAft>
                <a:spcPts val="1200"/>
              </a:spcAft>
              <a:buNone/>
            </a:pPr>
            <a:r>
              <a:rPr lang="fr-FR" dirty="0"/>
              <a:t>- le chiffre d’affaires par client pour le top 10 des clients ;</a:t>
            </a:r>
          </a:p>
          <a:p>
            <a:pPr marL="0" lvl="0" indent="0" algn="l" rtl="0">
              <a:spcBef>
                <a:spcPts val="0"/>
              </a:spcBef>
              <a:spcAft>
                <a:spcPts val="1200"/>
              </a:spcAft>
              <a:buNone/>
            </a:pPr>
            <a:r>
              <a:rPr lang="fr-FR" dirty="0"/>
              <a:t>- la part de chiffre d’affaires encaissé par employé.</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Analyse de la base de données</a:t>
            </a:r>
            <a:endParaRPr/>
          </a:p>
          <a:p>
            <a:pPr marL="0" lvl="0" indent="0" algn="l" rtl="0">
              <a:spcBef>
                <a:spcPts val="0"/>
              </a:spcBef>
              <a:spcAft>
                <a:spcPts val="0"/>
              </a:spcAft>
              <a:buNone/>
            </a:pPr>
            <a:r>
              <a:rPr lang="fr" sz="1888"/>
              <a:t>Architecture de l’entreprise</a:t>
            </a:r>
            <a:endParaRPr sz="1888"/>
          </a:p>
        </p:txBody>
      </p:sp>
      <p:sp>
        <p:nvSpPr>
          <p:cNvPr id="153" name="Google Shape;153;p1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92500" lnSpcReduction="10000"/>
          </a:bodyPr>
          <a:lstStyle/>
          <a:p>
            <a:r>
              <a:rPr lang="fr-FR" dirty="0"/>
              <a:t>L'architecture montre 3 étapes de circulation des données dans le système informatique de l'entreprise:</a:t>
            </a:r>
          </a:p>
          <a:p>
            <a:r>
              <a:rPr lang="fr-FR" b="1" dirty="0"/>
              <a:t>La source qui correspond à la base de données en live (SQL Server)</a:t>
            </a:r>
            <a:r>
              <a:rPr lang="fr-FR" dirty="0"/>
              <a:t>. Les données sont générées et stockées en temps réel. Ex: transactions, ventes, clients etc. C'est le </a:t>
            </a:r>
            <a:r>
              <a:rPr lang="fr-FR" dirty="0" err="1"/>
              <a:t>coeur</a:t>
            </a:r>
            <a:r>
              <a:rPr lang="fr-FR" dirty="0"/>
              <a:t> du système</a:t>
            </a:r>
          </a:p>
          <a:p>
            <a:r>
              <a:rPr lang="fr-FR" dirty="0"/>
              <a:t>A partir de cette source, on part:</a:t>
            </a:r>
            <a:br>
              <a:rPr lang="fr-FR" dirty="0"/>
            </a:br>
            <a:r>
              <a:rPr lang="fr-FR" dirty="0"/>
              <a:t>Vers le </a:t>
            </a:r>
            <a:r>
              <a:rPr lang="fr-FR" b="1" dirty="0"/>
              <a:t>Cube OLAP (Azure </a:t>
            </a:r>
            <a:r>
              <a:rPr lang="fr-FR" b="1" dirty="0" err="1"/>
              <a:t>Analysis</a:t>
            </a:r>
            <a:r>
              <a:rPr lang="fr-FR" b="1" dirty="0"/>
              <a:t> Services)</a:t>
            </a:r>
            <a:r>
              <a:rPr lang="fr-FR" dirty="0"/>
              <a:t> → les données sont extraites et organisées pour l'analyse. Le cube permet de les croiser selon plusieurs dimensions (temps, produit, région…) afin de produire des rapports et des statistiques.</a:t>
            </a:r>
            <a:br>
              <a:rPr lang="fr-FR" dirty="0"/>
            </a:br>
            <a:r>
              <a:rPr lang="fr-FR" dirty="0"/>
              <a:t>Vers </a:t>
            </a:r>
            <a:r>
              <a:rPr lang="fr-FR" b="1" dirty="0"/>
              <a:t>le site internet et l'ERP</a:t>
            </a:r>
            <a:r>
              <a:rPr lang="fr-FR" dirty="0"/>
              <a:t> → les mêmes données alimentent les outils opérationnels du quotidien (le site web de l'entreprise et son logiciel de gestion interne).</a:t>
            </a:r>
          </a:p>
          <a:p>
            <a:r>
              <a:rPr lang="fr-FR" b="1" dirty="0"/>
              <a:t>La restitution avec le serveur Dataviz (Power BI)</a:t>
            </a:r>
            <a:r>
              <a:rPr lang="fr-FR" dirty="0"/>
              <a:t>: Le cube OLAP alimente enfin Power BI, qui permet aux utilisateurs de visualiser les données sous forme de tableaux de bord et de graphiques interactifs pour aider à la prise de décision</a:t>
            </a:r>
          </a:p>
          <a:p>
            <a:pPr marL="457200" marR="152400" lvl="0" indent="-285750" algn="l" rtl="0">
              <a:spcBef>
                <a:spcPts val="0"/>
              </a:spcBef>
              <a:spcAft>
                <a:spcPts val="0"/>
              </a:spcAft>
              <a:buClr>
                <a:srgbClr val="999999"/>
              </a:buClr>
              <a:buSzPts val="900"/>
              <a:buFont typeface="Inter"/>
              <a:buChar cha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r>
              <a:rPr lang="fr-FR" dirty="0"/>
              <a:t>Dictionnaire des données ici</a:t>
            </a:r>
          </a:p>
          <a:p>
            <a:pPr marL="457200" marR="152400" lvl="0" indent="-285750" algn="l" rtl="0">
              <a:spcBef>
                <a:spcPts val="0"/>
              </a:spcBef>
              <a:spcAft>
                <a:spcPts val="0"/>
              </a:spcAft>
              <a:buClr>
                <a:srgbClr val="999999"/>
              </a:buClr>
              <a:buSzPts val="900"/>
              <a:buFont typeface="Inter"/>
              <a:buChar char="●"/>
            </a:pPr>
            <a:endParaRPr lang="fr-FR" dirty="0"/>
          </a:p>
          <a:p>
            <a:pPr marL="457200" marR="152400" lvl="0" indent="-285750" algn="l" rtl="0">
              <a:spcBef>
                <a:spcPts val="0"/>
              </a:spcBef>
              <a:spcAft>
                <a:spcPts val="0"/>
              </a:spcAft>
              <a:buClr>
                <a:srgbClr val="999999"/>
              </a:buClr>
              <a:buSzPts val="900"/>
              <a:buFont typeface="Inter"/>
              <a:buChar char="●"/>
            </a:pPr>
            <a:endParaRPr lang="fr-FR" dirty="0"/>
          </a:p>
          <a:p>
            <a:pPr marL="457200" marR="152400" lvl="0" indent="-285750" algn="l" rtl="0">
              <a:spcBef>
                <a:spcPts val="0"/>
              </a:spcBef>
              <a:spcAft>
                <a:spcPts val="0"/>
              </a:spcAft>
              <a:buClr>
                <a:srgbClr val="999999"/>
              </a:buClr>
              <a:buSzPts val="900"/>
              <a:buFont typeface="Inter"/>
              <a:buChar char="●"/>
            </a:pPr>
            <a:endParaRPr lang="fr-FR" dirty="0"/>
          </a:p>
          <a:p>
            <a:pPr marL="457200" marR="152400" lvl="0" indent="-285750" algn="l" rtl="0">
              <a:spcBef>
                <a:spcPts val="0"/>
              </a:spcBef>
              <a:spcAft>
                <a:spcPts val="0"/>
              </a:spcAft>
              <a:buClr>
                <a:srgbClr val="999999"/>
              </a:buClr>
              <a:buSzPts val="900"/>
              <a:buFont typeface="Inter"/>
              <a:buChar char="●"/>
            </a:pPr>
            <a:endParaRPr lang="fr-FR" dirty="0"/>
          </a:p>
          <a:p>
            <a:pPr marL="457200" marR="152400" lvl="0" indent="-285750" algn="l" rtl="0">
              <a:spcBef>
                <a:spcPts val="0"/>
              </a:spcBef>
              <a:spcAft>
                <a:spcPts val="0"/>
              </a:spcAft>
              <a:buClr>
                <a:srgbClr val="999999"/>
              </a:buClr>
              <a:buSzPts val="900"/>
              <a:buFont typeface="Inter"/>
              <a:buChar char="●"/>
            </a:pPr>
            <a:endParaRPr dirty="0"/>
          </a:p>
        </p:txBody>
      </p:sp>
      <p:sp>
        <p:nvSpPr>
          <p:cNvPr id="159" name="Google Shape;159;p1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t>Analyse de la base de données</a:t>
            </a:r>
            <a:endParaRPr dirty="0"/>
          </a:p>
          <a:p>
            <a:pPr marL="0" lvl="0" indent="0" algn="l" rtl="0">
              <a:spcBef>
                <a:spcPts val="0"/>
              </a:spcBef>
              <a:spcAft>
                <a:spcPts val="0"/>
              </a:spcAft>
              <a:buNone/>
            </a:pPr>
            <a:r>
              <a:rPr lang="fr" sz="1888" dirty="0"/>
              <a:t>Dictionnaire des données du fichier OLAP schéma relationnel</a:t>
            </a:r>
            <a:endParaRPr sz="1888" dirty="0"/>
          </a:p>
        </p:txBody>
      </p:sp>
      <p:graphicFrame>
        <p:nvGraphicFramePr>
          <p:cNvPr id="4" name="Objet 3">
            <a:extLst>
              <a:ext uri="{FF2B5EF4-FFF2-40B4-BE49-F238E27FC236}">
                <a16:creationId xmlns:a16="http://schemas.microsoft.com/office/drawing/2014/main" id="{F6F9CE72-EC08-D3F7-BC8F-57DFCA2CB910}"/>
              </a:ext>
            </a:extLst>
          </p:cNvPr>
          <p:cNvGraphicFramePr>
            <a:graphicFrameLocks noChangeAspect="1"/>
          </p:cNvGraphicFramePr>
          <p:nvPr>
            <p:extLst>
              <p:ext uri="{D42A27DB-BD31-4B8C-83A1-F6EECF244321}">
                <p14:modId xmlns:p14="http://schemas.microsoft.com/office/powerpoint/2010/main" val="1294868801"/>
              </p:ext>
            </p:extLst>
          </p:nvPr>
        </p:nvGraphicFramePr>
        <p:xfrm>
          <a:off x="6134660" y="1276845"/>
          <a:ext cx="914400" cy="792162"/>
        </p:xfrm>
        <a:graphic>
          <a:graphicData uri="http://schemas.openxmlformats.org/presentationml/2006/ole">
            <mc:AlternateContent xmlns:mc="http://schemas.openxmlformats.org/markup-compatibility/2006">
              <mc:Choice xmlns:v="urn:schemas-microsoft-com:vml" Requires="v">
                <p:oleObj name="Worksheet" showAsIcon="1" r:id="rId3" imgW="914400" imgH="792417" progId="Excel.Sheet.12">
                  <p:embed/>
                </p:oleObj>
              </mc:Choice>
              <mc:Fallback>
                <p:oleObj name="Worksheet" showAsIcon="1" r:id="rId3" imgW="914400" imgH="792417" progId="Excel.Sheet.12">
                  <p:embed/>
                  <p:pic>
                    <p:nvPicPr>
                      <p:cNvPr id="0" name=""/>
                      <p:cNvPicPr/>
                      <p:nvPr/>
                    </p:nvPicPr>
                    <p:blipFill>
                      <a:blip r:embed="rId4"/>
                      <a:stretch>
                        <a:fillRect/>
                      </a:stretch>
                    </p:blipFill>
                    <p:spPr>
                      <a:xfrm>
                        <a:off x="6134660" y="1276845"/>
                        <a:ext cx="914400" cy="792162"/>
                      </a:xfrm>
                      <a:prstGeom prst="rect">
                        <a:avLst/>
                      </a:prstGeom>
                    </p:spPr>
                  </p:pic>
                </p:oleObj>
              </mc:Fallback>
            </mc:AlternateContent>
          </a:graphicData>
        </a:graphic>
      </p:graphicFrame>
      <p:pic>
        <p:nvPicPr>
          <p:cNvPr id="5" name="Image 4">
            <a:extLst>
              <a:ext uri="{FF2B5EF4-FFF2-40B4-BE49-F238E27FC236}">
                <a16:creationId xmlns:a16="http://schemas.microsoft.com/office/drawing/2014/main" id="{3DEABECA-9152-5396-A600-7C60E690ECFD}"/>
              </a:ext>
            </a:extLst>
          </p:cNvPr>
          <p:cNvPicPr>
            <a:picLocks noChangeAspect="1"/>
          </p:cNvPicPr>
          <p:nvPr/>
        </p:nvPicPr>
        <p:blipFill>
          <a:blip r:embed="rId5"/>
          <a:stretch>
            <a:fillRect/>
          </a:stretch>
        </p:blipFill>
        <p:spPr>
          <a:xfrm>
            <a:off x="0" y="2069007"/>
            <a:ext cx="9144000" cy="10054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4D58419-6D60-CBE9-412F-6D3260688489}"/>
              </a:ext>
            </a:extLst>
          </p:cNvPr>
          <p:cNvSpPr>
            <a:spLocks noGrp="1"/>
          </p:cNvSpPr>
          <p:nvPr>
            <p:ph type="body" idx="1"/>
          </p:nvPr>
        </p:nvSpPr>
        <p:spPr>
          <a:xfrm>
            <a:off x="1297500" y="1567550"/>
            <a:ext cx="3213988" cy="2911200"/>
          </a:xfrm>
        </p:spPr>
        <p:txBody>
          <a:bodyPr/>
          <a:lstStyle/>
          <a:p>
            <a:r>
              <a:rPr lang="fr-FR" dirty="0"/>
              <a:t>Un modèle relationnel a été construit à l’aide de SQL Power Architect à partir de données à plat, avec une table de faits centrale et plusieurs tables de dimensions.</a:t>
            </a:r>
          </a:p>
          <a:p>
            <a:pPr marL="146050" indent="0">
              <a:buNone/>
            </a:pPr>
            <a:endParaRPr lang="fr-FR" dirty="0"/>
          </a:p>
          <a:p>
            <a:r>
              <a:rPr lang="fr-FR" dirty="0"/>
              <a:t>La table centrale est la table de vente, reliée aux dimensions client, produit, employé et calendrier.</a:t>
            </a:r>
          </a:p>
          <a:p>
            <a:endParaRPr lang="fr-FR" dirty="0"/>
          </a:p>
        </p:txBody>
      </p:sp>
      <p:sp>
        <p:nvSpPr>
          <p:cNvPr id="4" name="Google Shape;159;p17">
            <a:extLst>
              <a:ext uri="{FF2B5EF4-FFF2-40B4-BE49-F238E27FC236}">
                <a16:creationId xmlns:a16="http://schemas.microsoft.com/office/drawing/2014/main" id="{7B22BC67-129E-8550-6FCD-5E8D14B041F3}"/>
              </a:ext>
            </a:extLst>
          </p:cNvPr>
          <p:cNvSpPr txBox="1">
            <a:spLocks/>
          </p:cNvSpPr>
          <p:nvPr/>
        </p:nvSpPr>
        <p:spPr>
          <a:xfrm>
            <a:off x="1449900" y="546150"/>
            <a:ext cx="7038900" cy="9141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fr-FR" dirty="0"/>
              <a:t>Analyse de la base de données</a:t>
            </a:r>
          </a:p>
          <a:p>
            <a:r>
              <a:rPr lang="fr-FR" sz="1888" dirty="0"/>
              <a:t>schéma relationnel</a:t>
            </a:r>
          </a:p>
        </p:txBody>
      </p:sp>
      <p:pic>
        <p:nvPicPr>
          <p:cNvPr id="5" name="Image 4">
            <a:extLst>
              <a:ext uri="{FF2B5EF4-FFF2-40B4-BE49-F238E27FC236}">
                <a16:creationId xmlns:a16="http://schemas.microsoft.com/office/drawing/2014/main" id="{13D1EB4E-7278-6A9E-1AC9-E258F707FEEC}"/>
              </a:ext>
            </a:extLst>
          </p:cNvPr>
          <p:cNvPicPr>
            <a:picLocks noChangeAspect="1"/>
          </p:cNvPicPr>
          <p:nvPr/>
        </p:nvPicPr>
        <p:blipFill>
          <a:blip r:embed="rId2"/>
          <a:stretch>
            <a:fillRect/>
          </a:stretch>
        </p:blipFill>
        <p:spPr>
          <a:xfrm>
            <a:off x="4632514" y="1460250"/>
            <a:ext cx="4412412" cy="2993215"/>
          </a:xfrm>
          <a:prstGeom prst="rect">
            <a:avLst/>
          </a:prstGeom>
        </p:spPr>
      </p:pic>
    </p:spTree>
    <p:extLst>
      <p:ext uri="{BB962C8B-B14F-4D97-AF65-F5344CB8AC3E}">
        <p14:creationId xmlns:p14="http://schemas.microsoft.com/office/powerpoint/2010/main" val="3497471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Présentation du prototype de BDD</a:t>
            </a:r>
            <a:endParaRPr/>
          </a:p>
          <a:p>
            <a:pPr marL="0" lvl="0" indent="0" algn="l" rtl="0">
              <a:spcBef>
                <a:spcPts val="0"/>
              </a:spcBef>
              <a:spcAft>
                <a:spcPts val="0"/>
              </a:spcAft>
              <a:buNone/>
            </a:pPr>
            <a:r>
              <a:rPr lang="fr" sz="1888"/>
              <a:t>Explication de la base de données</a:t>
            </a:r>
            <a:endParaRPr sz="1888"/>
          </a:p>
        </p:txBody>
      </p:sp>
      <p:sp>
        <p:nvSpPr>
          <p:cNvPr id="165" name="Google Shape;165;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r>
              <a:rPr lang="fr-FR" dirty="0"/>
              <a:t>Une base de données PostgreSQL locale a été créée afin de reproduire les analyses en SQL.</a:t>
            </a:r>
          </a:p>
          <a:p>
            <a:pPr marL="457200" marR="152400" lvl="0" indent="-285750" algn="l" rtl="0">
              <a:spcBef>
                <a:spcPts val="0"/>
              </a:spcBef>
              <a:spcAft>
                <a:spcPts val="0"/>
              </a:spcAft>
              <a:buClr>
                <a:srgbClr val="999999"/>
              </a:buClr>
              <a:buSzPts val="900"/>
              <a:buFont typeface="Inter"/>
              <a:buChar char="●"/>
            </a:pPr>
            <a:r>
              <a:rPr lang="fr-FR" dirty="0"/>
              <a:t>Les tables ont été créées à l’aide des scripts SQL générés par SQL Power Architect, puis alimentées avec les données extraites.</a:t>
            </a:r>
          </a:p>
        </p:txBody>
      </p:sp>
      <p:pic>
        <p:nvPicPr>
          <p:cNvPr id="4" name="Image 3">
            <a:extLst>
              <a:ext uri="{FF2B5EF4-FFF2-40B4-BE49-F238E27FC236}">
                <a16:creationId xmlns:a16="http://schemas.microsoft.com/office/drawing/2014/main" id="{58054693-3756-3043-02D3-12B6DC4467B8}"/>
              </a:ext>
            </a:extLst>
          </p:cNvPr>
          <p:cNvPicPr>
            <a:picLocks noChangeAspect="1"/>
          </p:cNvPicPr>
          <p:nvPr/>
        </p:nvPicPr>
        <p:blipFill>
          <a:blip r:embed="rId3"/>
          <a:stretch>
            <a:fillRect/>
          </a:stretch>
        </p:blipFill>
        <p:spPr>
          <a:xfrm>
            <a:off x="5765793" y="2473272"/>
            <a:ext cx="3053218" cy="2453013"/>
          </a:xfrm>
          <a:prstGeom prst="rect">
            <a:avLst/>
          </a:prstGeom>
        </p:spPr>
      </p:pic>
      <p:graphicFrame>
        <p:nvGraphicFramePr>
          <p:cNvPr id="5" name="Objet 4">
            <a:extLst>
              <a:ext uri="{FF2B5EF4-FFF2-40B4-BE49-F238E27FC236}">
                <a16:creationId xmlns:a16="http://schemas.microsoft.com/office/drawing/2014/main" id="{638026A9-8391-5752-42EF-3ED3500CDEF6}"/>
              </a:ext>
            </a:extLst>
          </p:cNvPr>
          <p:cNvGraphicFramePr>
            <a:graphicFrameLocks noChangeAspect="1"/>
          </p:cNvGraphicFramePr>
          <p:nvPr>
            <p:extLst>
              <p:ext uri="{D42A27DB-BD31-4B8C-83A1-F6EECF244321}">
                <p14:modId xmlns:p14="http://schemas.microsoft.com/office/powerpoint/2010/main" val="694778375"/>
              </p:ext>
            </p:extLst>
          </p:nvPr>
        </p:nvGraphicFramePr>
        <p:xfrm>
          <a:off x="4421170" y="3632543"/>
          <a:ext cx="862012" cy="517525"/>
        </p:xfrm>
        <a:graphic>
          <a:graphicData uri="http://schemas.openxmlformats.org/presentationml/2006/ole">
            <mc:AlternateContent xmlns:mc="http://schemas.openxmlformats.org/markup-compatibility/2006">
              <mc:Choice xmlns:v="urn:schemas-microsoft-com:vml" Requires="v">
                <p:oleObj name="Objet d’environnement du Gestionnaire de liaisons" showAsIcon="1" r:id="rId4" imgW="861237" imgH="517956" progId="Package">
                  <p:embed/>
                </p:oleObj>
              </mc:Choice>
              <mc:Fallback>
                <p:oleObj name="Objet d’environnement du Gestionnaire de liaisons" showAsIcon="1" r:id="rId4" imgW="861237" imgH="517956" progId="Package">
                  <p:embed/>
                  <p:pic>
                    <p:nvPicPr>
                      <p:cNvPr id="0" name=""/>
                      <p:cNvPicPr/>
                      <p:nvPr/>
                    </p:nvPicPr>
                    <p:blipFill>
                      <a:blip r:embed="rId5"/>
                      <a:stretch>
                        <a:fillRect/>
                      </a:stretch>
                    </p:blipFill>
                    <p:spPr>
                      <a:xfrm>
                        <a:off x="4421170" y="3632543"/>
                        <a:ext cx="862012" cy="517525"/>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R="152400" lvl="0" indent="-285750">
              <a:buClr>
                <a:srgbClr val="999999"/>
              </a:buClr>
              <a:buSzPts val="900"/>
              <a:buFont typeface="Inter"/>
              <a:buChar char="●"/>
            </a:pPr>
            <a:r>
              <a:rPr lang="fr-FR" dirty="0"/>
              <a:t>SELECT </a:t>
            </a:r>
          </a:p>
          <a:p>
            <a:pPr marR="152400" lvl="0" indent="-285750">
              <a:buClr>
                <a:srgbClr val="999999"/>
              </a:buClr>
              <a:buSzPts val="900"/>
              <a:buFont typeface="Inter"/>
              <a:buChar char="●"/>
            </a:pPr>
            <a:r>
              <a:rPr lang="fr-FR" dirty="0"/>
              <a:t>  SUM(</a:t>
            </a:r>
            <a:r>
              <a:rPr lang="fr-FR" dirty="0" err="1"/>
              <a:t>p.prix</a:t>
            </a:r>
            <a:r>
              <a:rPr lang="fr-FR" dirty="0"/>
              <a:t>) AS </a:t>
            </a:r>
            <a:r>
              <a:rPr lang="fr-FR" dirty="0" err="1"/>
              <a:t>CA_brute</a:t>
            </a:r>
            <a:r>
              <a:rPr lang="fr-FR" dirty="0"/>
              <a:t>,</a:t>
            </a:r>
          </a:p>
          <a:p>
            <a:pPr marR="152400" lvl="0" indent="-285750">
              <a:buClr>
                <a:srgbClr val="999999"/>
              </a:buClr>
              <a:buSzPts val="900"/>
              <a:buFont typeface="Inter"/>
              <a:buChar char="●"/>
            </a:pPr>
            <a:r>
              <a:rPr lang="fr-FR" dirty="0"/>
              <a:t>  SUM(ROUND(</a:t>
            </a:r>
            <a:r>
              <a:rPr lang="fr-FR" dirty="0" err="1"/>
              <a:t>p.prix</a:t>
            </a:r>
            <a:r>
              <a:rPr lang="fr-FR" dirty="0"/>
              <a:t>::</a:t>
            </a:r>
            <a:r>
              <a:rPr lang="fr-FR" dirty="0" err="1"/>
              <a:t>numeric</a:t>
            </a:r>
            <a:r>
              <a:rPr lang="fr-FR" dirty="0"/>
              <a:t>, 2)) AS </a:t>
            </a:r>
            <a:r>
              <a:rPr lang="fr-FR" dirty="0" err="1"/>
              <a:t>CA_arrondie</a:t>
            </a:r>
            <a:endParaRPr lang="fr-FR" dirty="0"/>
          </a:p>
          <a:p>
            <a:pPr marR="152400" lvl="0" indent="-285750">
              <a:buClr>
                <a:srgbClr val="999999"/>
              </a:buClr>
              <a:buSzPts val="900"/>
              <a:buFont typeface="Inter"/>
              <a:buChar char="●"/>
            </a:pPr>
            <a:r>
              <a:rPr lang="fr-FR" dirty="0"/>
              <a:t>FROM vente v</a:t>
            </a:r>
          </a:p>
          <a:p>
            <a:pPr marR="152400" lvl="0" indent="-285750">
              <a:buClr>
                <a:srgbClr val="999999"/>
              </a:buClr>
              <a:buSzPts val="900"/>
              <a:buFont typeface="Inter"/>
              <a:buChar char="●"/>
            </a:pPr>
            <a:r>
              <a:rPr lang="fr-FR" dirty="0"/>
              <a:t>JOIN produit p</a:t>
            </a:r>
          </a:p>
          <a:p>
            <a:pPr marR="152400" lvl="0" indent="-285750">
              <a:buClr>
                <a:srgbClr val="999999"/>
              </a:buClr>
              <a:buSzPts val="900"/>
              <a:buFont typeface="Inter"/>
              <a:buChar char="●"/>
            </a:pPr>
            <a:r>
              <a:rPr lang="fr-FR" dirty="0"/>
              <a:t>	ON </a:t>
            </a:r>
            <a:r>
              <a:rPr lang="fr-FR" dirty="0" err="1"/>
              <a:t>v.ean</a:t>
            </a:r>
            <a:r>
              <a:rPr lang="fr-FR" dirty="0"/>
              <a:t> = </a:t>
            </a:r>
            <a:r>
              <a:rPr lang="fr-FR" dirty="0" err="1"/>
              <a:t>p.ean</a:t>
            </a:r>
            <a:r>
              <a:rPr lang="fr-FR" dirty="0"/>
              <a:t>;</a:t>
            </a:r>
            <a:endParaRPr dirty="0"/>
          </a:p>
        </p:txBody>
      </p:sp>
      <p:sp>
        <p:nvSpPr>
          <p:cNvPr id="171" name="Google Shape;171;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Résultat des requêtes SQL</a:t>
            </a:r>
            <a:endParaRPr/>
          </a:p>
          <a:p>
            <a:pPr marL="0" lvl="0" indent="0" algn="l" rtl="0">
              <a:spcBef>
                <a:spcPts val="0"/>
              </a:spcBef>
              <a:spcAft>
                <a:spcPts val="0"/>
              </a:spcAft>
              <a:buNone/>
            </a:pPr>
            <a:r>
              <a:rPr lang="fr" sz="1888"/>
              <a:t>Le chiffre d’affaires total pour le 14 Août</a:t>
            </a:r>
            <a:endParaRPr sz="1888"/>
          </a:p>
        </p:txBody>
      </p:sp>
      <p:pic>
        <p:nvPicPr>
          <p:cNvPr id="4" name="Image 3">
            <a:extLst>
              <a:ext uri="{FF2B5EF4-FFF2-40B4-BE49-F238E27FC236}">
                <a16:creationId xmlns:a16="http://schemas.microsoft.com/office/drawing/2014/main" id="{4975D3B1-A750-4795-E568-726B063B6F58}"/>
              </a:ext>
            </a:extLst>
          </p:cNvPr>
          <p:cNvPicPr>
            <a:picLocks noChangeAspect="1"/>
          </p:cNvPicPr>
          <p:nvPr/>
        </p:nvPicPr>
        <p:blipFill>
          <a:blip r:embed="rId3"/>
          <a:stretch>
            <a:fillRect/>
          </a:stretch>
        </p:blipFill>
        <p:spPr>
          <a:xfrm>
            <a:off x="2136378" y="3486602"/>
            <a:ext cx="1813717" cy="556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R="152400" lvl="0" indent="-285750">
              <a:buClr>
                <a:srgbClr val="999999"/>
              </a:buClr>
              <a:buSzPts val="900"/>
              <a:buFont typeface="Inter"/>
              <a:buChar char="●"/>
            </a:pPr>
            <a:r>
              <a:rPr lang="fr-FR" dirty="0"/>
              <a:t>SELECT   </a:t>
            </a:r>
            <a:r>
              <a:rPr lang="fr-FR" dirty="0" err="1"/>
              <a:t>v.customer_id</a:t>
            </a:r>
            <a:r>
              <a:rPr lang="fr-FR" dirty="0"/>
              <a:t> as client,</a:t>
            </a:r>
          </a:p>
          <a:p>
            <a:pPr marR="152400" lvl="0" indent="-285750">
              <a:buClr>
                <a:srgbClr val="999999"/>
              </a:buClr>
              <a:buSzPts val="900"/>
              <a:buFont typeface="Inter"/>
              <a:buChar char="●"/>
            </a:pPr>
            <a:r>
              <a:rPr lang="fr-FR" dirty="0"/>
              <a:t>SUM(ROUND(</a:t>
            </a:r>
            <a:r>
              <a:rPr lang="fr-FR" dirty="0" err="1"/>
              <a:t>p.prix</a:t>
            </a:r>
            <a:r>
              <a:rPr lang="fr-FR" dirty="0"/>
              <a:t>::</a:t>
            </a:r>
            <a:r>
              <a:rPr lang="fr-FR" dirty="0" err="1"/>
              <a:t>numeric</a:t>
            </a:r>
            <a:r>
              <a:rPr lang="fr-FR" dirty="0"/>
              <a:t>, 2)) AS </a:t>
            </a:r>
            <a:r>
              <a:rPr lang="fr-FR" dirty="0" err="1"/>
              <a:t>ca_arrondie</a:t>
            </a:r>
            <a:endParaRPr lang="fr-FR" dirty="0"/>
          </a:p>
          <a:p>
            <a:pPr marR="152400" lvl="0" indent="-285750">
              <a:buClr>
                <a:srgbClr val="999999"/>
              </a:buClr>
              <a:buSzPts val="900"/>
              <a:buFont typeface="Inter"/>
              <a:buChar char="●"/>
            </a:pPr>
            <a:r>
              <a:rPr lang="fr-FR" dirty="0"/>
              <a:t>FROM vente v</a:t>
            </a:r>
          </a:p>
          <a:p>
            <a:pPr marR="152400" lvl="0" indent="-285750">
              <a:buClr>
                <a:srgbClr val="999999"/>
              </a:buClr>
              <a:buSzPts val="900"/>
              <a:buFont typeface="Inter"/>
              <a:buChar char="●"/>
            </a:pPr>
            <a:r>
              <a:rPr lang="fr-FR" dirty="0"/>
              <a:t>JOIN produit p</a:t>
            </a:r>
          </a:p>
          <a:p>
            <a:pPr marR="152400" lvl="0" indent="-285750">
              <a:buClr>
                <a:srgbClr val="999999"/>
              </a:buClr>
              <a:buSzPts val="900"/>
              <a:buFont typeface="Inter"/>
              <a:buChar char="●"/>
            </a:pPr>
            <a:r>
              <a:rPr lang="fr-FR" dirty="0"/>
              <a:t>	ON </a:t>
            </a:r>
            <a:r>
              <a:rPr lang="fr-FR" dirty="0" err="1"/>
              <a:t>v.ean</a:t>
            </a:r>
            <a:r>
              <a:rPr lang="fr-FR" dirty="0"/>
              <a:t> = </a:t>
            </a:r>
            <a:r>
              <a:rPr lang="fr-FR" dirty="0" err="1"/>
              <a:t>p.ean</a:t>
            </a:r>
            <a:endParaRPr lang="fr-FR" dirty="0"/>
          </a:p>
          <a:p>
            <a:pPr marR="152400" lvl="0" indent="-285750">
              <a:buClr>
                <a:srgbClr val="999999"/>
              </a:buClr>
              <a:buSzPts val="900"/>
              <a:buFont typeface="Inter"/>
              <a:buChar char="●"/>
            </a:pPr>
            <a:r>
              <a:rPr lang="fr-FR" dirty="0"/>
              <a:t>GROUP BY </a:t>
            </a:r>
            <a:r>
              <a:rPr lang="fr-FR" dirty="0" err="1"/>
              <a:t>v.customer_id</a:t>
            </a:r>
            <a:endParaRPr lang="fr-FR" dirty="0"/>
          </a:p>
          <a:p>
            <a:pPr marR="152400" lvl="0" indent="-285750">
              <a:buClr>
                <a:srgbClr val="999999"/>
              </a:buClr>
              <a:buSzPts val="900"/>
              <a:buFont typeface="Inter"/>
              <a:buChar char="●"/>
            </a:pPr>
            <a:r>
              <a:rPr lang="fr-FR" dirty="0"/>
              <a:t>ORDER BY </a:t>
            </a:r>
            <a:r>
              <a:rPr lang="fr-FR" dirty="0" err="1"/>
              <a:t>ca_arrondie</a:t>
            </a:r>
            <a:r>
              <a:rPr lang="fr-FR" dirty="0"/>
              <a:t> DESC</a:t>
            </a:r>
          </a:p>
          <a:p>
            <a:pPr marR="152400" lvl="0" indent="-285750">
              <a:buClr>
                <a:srgbClr val="999999"/>
              </a:buClr>
              <a:buSzPts val="900"/>
              <a:buFont typeface="Inter"/>
              <a:buChar char="●"/>
            </a:pPr>
            <a:r>
              <a:rPr lang="fr-FR" dirty="0"/>
              <a:t>LIMIT 10;</a:t>
            </a:r>
            <a:endParaRPr dirty="0"/>
          </a:p>
        </p:txBody>
      </p:sp>
      <p:sp>
        <p:nvSpPr>
          <p:cNvPr id="177" name="Google Shape;177;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Résultat des requêtes SQL</a:t>
            </a:r>
            <a:endParaRPr/>
          </a:p>
          <a:p>
            <a:pPr marL="0" lvl="0" indent="0" algn="l" rtl="0">
              <a:spcBef>
                <a:spcPts val="0"/>
              </a:spcBef>
              <a:spcAft>
                <a:spcPts val="0"/>
              </a:spcAft>
              <a:buNone/>
            </a:pPr>
            <a:r>
              <a:rPr lang="fr" sz="1888"/>
              <a:t>Le chiffre d’affaires par client pour le top 10 des clients</a:t>
            </a:r>
            <a:endParaRPr sz="1888"/>
          </a:p>
        </p:txBody>
      </p:sp>
      <p:pic>
        <p:nvPicPr>
          <p:cNvPr id="3" name="Image 2">
            <a:extLst>
              <a:ext uri="{FF2B5EF4-FFF2-40B4-BE49-F238E27FC236}">
                <a16:creationId xmlns:a16="http://schemas.microsoft.com/office/drawing/2014/main" id="{9E0FB00A-964A-8DB9-040D-6BDAC101472F}"/>
              </a:ext>
            </a:extLst>
          </p:cNvPr>
          <p:cNvPicPr>
            <a:picLocks noChangeAspect="1"/>
          </p:cNvPicPr>
          <p:nvPr/>
        </p:nvPicPr>
        <p:blipFill>
          <a:blip r:embed="rId3"/>
          <a:stretch>
            <a:fillRect/>
          </a:stretch>
        </p:blipFill>
        <p:spPr>
          <a:xfrm>
            <a:off x="5719456" y="1436224"/>
            <a:ext cx="2667231" cy="33683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1"/>
          <p:cNvSpPr txBox="1">
            <a:spLocks noGrp="1"/>
          </p:cNvSpPr>
          <p:nvPr>
            <p:ph type="body" idx="1"/>
          </p:nvPr>
        </p:nvSpPr>
        <p:spPr>
          <a:xfrm>
            <a:off x="1297500" y="1567550"/>
            <a:ext cx="7624624" cy="3479938"/>
          </a:xfrm>
          <a:prstGeom prst="rect">
            <a:avLst/>
          </a:prstGeom>
        </p:spPr>
        <p:txBody>
          <a:bodyPr spcFirstLastPara="1" wrap="square" lIns="91425" tIns="91425" rIns="91425" bIns="91425" anchor="t" anchorCtr="0">
            <a:normAutofit fontScale="85000" lnSpcReduction="20000"/>
          </a:bodyPr>
          <a:lstStyle/>
          <a:p>
            <a:pPr marR="152400" lvl="0" indent="-285750">
              <a:buClr>
                <a:srgbClr val="999999"/>
              </a:buClr>
              <a:buSzPts val="900"/>
              <a:buFont typeface="Inter"/>
              <a:buChar char="●"/>
            </a:pPr>
            <a:r>
              <a:rPr lang="fr-FR" sz="900" dirty="0"/>
              <a:t>CREATE or REPLACE VIEW </a:t>
            </a:r>
            <a:r>
              <a:rPr lang="fr-FR" sz="900" dirty="0" err="1"/>
              <a:t>ca_per_employe</a:t>
            </a:r>
            <a:r>
              <a:rPr lang="fr-FR" sz="900" dirty="0"/>
              <a:t> AS(</a:t>
            </a:r>
          </a:p>
          <a:p>
            <a:pPr marR="152400" lvl="0" indent="-285750">
              <a:buClr>
                <a:srgbClr val="999999"/>
              </a:buClr>
              <a:buSzPts val="900"/>
              <a:buFont typeface="Inter"/>
              <a:buChar char="●"/>
            </a:pPr>
            <a:r>
              <a:rPr lang="fr-FR" sz="900" dirty="0" err="1"/>
              <a:t>SELECTv.id_employe</a:t>
            </a:r>
            <a:r>
              <a:rPr lang="fr-FR" sz="900" dirty="0"/>
              <a:t>,</a:t>
            </a:r>
          </a:p>
          <a:p>
            <a:pPr marR="152400" lvl="0" indent="-285750">
              <a:buClr>
                <a:srgbClr val="999999"/>
              </a:buClr>
              <a:buSzPts val="900"/>
              <a:buFont typeface="Inter"/>
              <a:buChar char="●"/>
            </a:pPr>
            <a:r>
              <a:rPr lang="fr-FR" sz="900" dirty="0"/>
              <a:t>SUM(ROUND(</a:t>
            </a:r>
            <a:r>
              <a:rPr lang="fr-FR" sz="900" dirty="0" err="1"/>
              <a:t>p.prix</a:t>
            </a:r>
            <a:r>
              <a:rPr lang="fr-FR" sz="900" dirty="0"/>
              <a:t>::</a:t>
            </a:r>
            <a:r>
              <a:rPr lang="fr-FR" sz="900" dirty="0" err="1"/>
              <a:t>numeric</a:t>
            </a:r>
            <a:r>
              <a:rPr lang="fr-FR" sz="900" dirty="0"/>
              <a:t>, 2)) AS </a:t>
            </a:r>
            <a:r>
              <a:rPr lang="fr-FR" sz="900" dirty="0" err="1"/>
              <a:t>ca_arrondie_par_employe</a:t>
            </a:r>
            <a:endParaRPr lang="fr-FR" sz="900" dirty="0"/>
          </a:p>
          <a:p>
            <a:pPr marR="152400" lvl="0" indent="-285750">
              <a:buClr>
                <a:srgbClr val="999999"/>
              </a:buClr>
              <a:buSzPts val="900"/>
              <a:buFont typeface="Inter"/>
              <a:buChar char="●"/>
            </a:pPr>
            <a:r>
              <a:rPr lang="fr-FR" sz="900" dirty="0"/>
              <a:t>FROM vente v</a:t>
            </a:r>
          </a:p>
          <a:p>
            <a:pPr marR="152400" lvl="0" indent="-285750">
              <a:buClr>
                <a:srgbClr val="999999"/>
              </a:buClr>
              <a:buSzPts val="900"/>
              <a:buFont typeface="Inter"/>
              <a:buChar char="●"/>
            </a:pPr>
            <a:r>
              <a:rPr lang="fr-FR" sz="900" dirty="0"/>
              <a:t>JOIN produit p ON </a:t>
            </a:r>
            <a:r>
              <a:rPr lang="fr-FR" sz="900" dirty="0" err="1"/>
              <a:t>v.ean</a:t>
            </a:r>
            <a:r>
              <a:rPr lang="fr-FR" sz="900" dirty="0"/>
              <a:t> = </a:t>
            </a:r>
            <a:r>
              <a:rPr lang="fr-FR" sz="900" dirty="0" err="1"/>
              <a:t>p.ean</a:t>
            </a:r>
            <a:endParaRPr lang="fr-FR" sz="900" dirty="0"/>
          </a:p>
          <a:p>
            <a:pPr marR="152400" lvl="0" indent="-285750">
              <a:buClr>
                <a:srgbClr val="999999"/>
              </a:buClr>
              <a:buSzPts val="900"/>
              <a:buFont typeface="Inter"/>
              <a:buChar char="●"/>
            </a:pPr>
            <a:r>
              <a:rPr lang="fr-FR" sz="900" dirty="0"/>
              <a:t>GROUP BY </a:t>
            </a:r>
            <a:r>
              <a:rPr lang="fr-FR" sz="900" dirty="0" err="1"/>
              <a:t>v.id_employe</a:t>
            </a:r>
            <a:endParaRPr lang="fr-FR" sz="900" dirty="0"/>
          </a:p>
          <a:p>
            <a:pPr marR="152400" lvl="0" indent="-285750">
              <a:buClr>
                <a:srgbClr val="999999"/>
              </a:buClr>
              <a:buSzPts val="900"/>
              <a:buFont typeface="Inter"/>
              <a:buChar char="●"/>
            </a:pPr>
            <a:r>
              <a:rPr lang="fr-FR" sz="900" dirty="0"/>
              <a:t>ORDER BY </a:t>
            </a:r>
            <a:r>
              <a:rPr lang="fr-FR" sz="900" dirty="0" err="1"/>
              <a:t>ca_arrondie_par_employe</a:t>
            </a:r>
            <a:r>
              <a:rPr lang="fr-FR" sz="900" dirty="0"/>
              <a:t> DESC</a:t>
            </a:r>
          </a:p>
          <a:p>
            <a:pPr marR="152400" lvl="0" indent="-285750">
              <a:buClr>
                <a:srgbClr val="999999"/>
              </a:buClr>
              <a:buSzPts val="900"/>
              <a:buFont typeface="Inter"/>
              <a:buChar char="●"/>
            </a:pPr>
            <a:r>
              <a:rPr lang="fr-FR" sz="900" dirty="0"/>
              <a:t>);</a:t>
            </a:r>
          </a:p>
          <a:p>
            <a:pPr marR="152400" lvl="0" indent="-285750">
              <a:buClr>
                <a:srgbClr val="999999"/>
              </a:buClr>
              <a:buSzPts val="900"/>
              <a:buFont typeface="Inter"/>
              <a:buChar char="●"/>
            </a:pPr>
            <a:endParaRPr lang="fr-FR" sz="900" dirty="0"/>
          </a:p>
          <a:p>
            <a:pPr marR="152400" lvl="0" indent="-285750">
              <a:buClr>
                <a:srgbClr val="999999"/>
              </a:buClr>
              <a:buSzPts val="900"/>
              <a:buFont typeface="Inter"/>
              <a:buChar char="●"/>
            </a:pPr>
            <a:r>
              <a:rPr lang="en-US" sz="900" dirty="0"/>
              <a:t>CREATE or REPLACE VIEW </a:t>
            </a:r>
            <a:r>
              <a:rPr lang="en-US" sz="900" dirty="0" err="1"/>
              <a:t>ca_arrondi</a:t>
            </a:r>
            <a:r>
              <a:rPr lang="en-US" sz="900" dirty="0"/>
              <a:t> AS(</a:t>
            </a:r>
          </a:p>
          <a:p>
            <a:pPr marR="152400" lvl="0" indent="-285750">
              <a:buClr>
                <a:srgbClr val="999999"/>
              </a:buClr>
              <a:buSzPts val="900"/>
              <a:buFont typeface="Inter"/>
              <a:buChar char="●"/>
            </a:pPr>
            <a:r>
              <a:rPr lang="en-US" sz="900" dirty="0" err="1"/>
              <a:t>SELECTid_employe</a:t>
            </a:r>
            <a:r>
              <a:rPr lang="en-US" sz="900" dirty="0"/>
              <a:t>,</a:t>
            </a:r>
          </a:p>
          <a:p>
            <a:pPr marR="152400" lvl="0" indent="-285750">
              <a:buClr>
                <a:srgbClr val="999999"/>
              </a:buClr>
              <a:buSzPts val="900"/>
              <a:buFont typeface="Inter"/>
              <a:buChar char="●"/>
            </a:pPr>
            <a:r>
              <a:rPr lang="en-US" sz="900" dirty="0"/>
              <a:t>SUM(</a:t>
            </a:r>
            <a:r>
              <a:rPr lang="en-US" sz="900" dirty="0" err="1"/>
              <a:t>ca_arrondie_par_employe</a:t>
            </a:r>
            <a:r>
              <a:rPr lang="en-US" sz="900" dirty="0"/>
              <a:t>) OVER() AS </a:t>
            </a:r>
            <a:r>
              <a:rPr lang="en-US" sz="900" dirty="0" err="1"/>
              <a:t>ca_arrondi</a:t>
            </a:r>
            <a:endParaRPr lang="en-US" sz="900" dirty="0"/>
          </a:p>
          <a:p>
            <a:pPr marR="152400" lvl="0" indent="-285750">
              <a:buClr>
                <a:srgbClr val="999999"/>
              </a:buClr>
              <a:buSzPts val="900"/>
              <a:buFont typeface="Inter"/>
              <a:buChar char="●"/>
            </a:pPr>
            <a:r>
              <a:rPr lang="en-US" sz="900" dirty="0"/>
              <a:t>FROM </a:t>
            </a:r>
            <a:r>
              <a:rPr lang="en-US" sz="900" dirty="0" err="1"/>
              <a:t>ca_per_employe</a:t>
            </a:r>
            <a:endParaRPr lang="en-US" sz="900" dirty="0"/>
          </a:p>
          <a:p>
            <a:pPr marR="152400" lvl="0" indent="-285750">
              <a:buClr>
                <a:srgbClr val="999999"/>
              </a:buClr>
              <a:buSzPts val="900"/>
              <a:buFont typeface="Inter"/>
              <a:buChar char="●"/>
            </a:pPr>
            <a:r>
              <a:rPr lang="en-US" sz="900" dirty="0"/>
              <a:t>);</a:t>
            </a:r>
            <a:endParaRPr lang="fr-FR" sz="900" dirty="0"/>
          </a:p>
          <a:p>
            <a:pPr marR="152400" lvl="0" indent="-285750">
              <a:buClr>
                <a:srgbClr val="999999"/>
              </a:buClr>
              <a:buSzPts val="900"/>
              <a:buFont typeface="Inter"/>
              <a:buChar char="●"/>
            </a:pPr>
            <a:endParaRPr lang="fr-FR" sz="900" dirty="0"/>
          </a:p>
          <a:p>
            <a:pPr marR="152400" lvl="0" indent="-285750">
              <a:buClr>
                <a:srgbClr val="999999"/>
              </a:buClr>
              <a:buSzPts val="900"/>
              <a:buFont typeface="Inter"/>
              <a:buChar char="●"/>
            </a:pPr>
            <a:r>
              <a:rPr lang="fr-FR" sz="900" dirty="0"/>
              <a:t>SELECT</a:t>
            </a:r>
          </a:p>
          <a:p>
            <a:pPr marR="152400" lvl="0" indent="-285750">
              <a:buClr>
                <a:srgbClr val="999999"/>
              </a:buClr>
              <a:buSzPts val="900"/>
              <a:buFont typeface="Inter"/>
              <a:buChar char="●"/>
            </a:pPr>
            <a:r>
              <a:rPr lang="fr-FR" sz="900" dirty="0" err="1"/>
              <a:t>e.employe</a:t>
            </a:r>
            <a:r>
              <a:rPr lang="fr-FR" sz="900" dirty="0"/>
              <a:t>,</a:t>
            </a:r>
          </a:p>
          <a:p>
            <a:pPr marR="152400" lvl="0" indent="-285750">
              <a:buClr>
                <a:srgbClr val="999999"/>
              </a:buClr>
              <a:buSzPts val="900"/>
              <a:buFont typeface="Inter"/>
              <a:buChar char="●"/>
            </a:pPr>
            <a:r>
              <a:rPr lang="fr-FR" sz="900" dirty="0"/>
              <a:t>CONCAT(</a:t>
            </a:r>
            <a:r>
              <a:rPr lang="fr-FR" sz="900" dirty="0" err="1"/>
              <a:t>c.jour</a:t>
            </a:r>
            <a:r>
              <a:rPr lang="fr-FR" sz="900" dirty="0"/>
              <a:t>,'/',</a:t>
            </a:r>
            <a:r>
              <a:rPr lang="fr-FR" sz="900" dirty="0" err="1"/>
              <a:t>c.mois</a:t>
            </a:r>
            <a:r>
              <a:rPr lang="fr-FR" sz="900" dirty="0"/>
              <a:t>,'/',</a:t>
            </a:r>
            <a:r>
              <a:rPr lang="fr-FR" sz="900" dirty="0" err="1"/>
              <a:t>c.annee</a:t>
            </a:r>
            <a:r>
              <a:rPr lang="fr-FR" sz="900" dirty="0"/>
              <a:t>) AS </a:t>
            </a:r>
            <a:r>
              <a:rPr lang="fr-FR" sz="900" dirty="0" err="1"/>
              <a:t>date_de_début</a:t>
            </a:r>
            <a:r>
              <a:rPr lang="fr-FR" sz="900" dirty="0"/>
              <a:t>,</a:t>
            </a:r>
          </a:p>
          <a:p>
            <a:pPr marR="152400" lvl="0" indent="-285750">
              <a:buClr>
                <a:srgbClr val="999999"/>
              </a:buClr>
              <a:buSzPts val="900"/>
              <a:buFont typeface="Inter"/>
              <a:buChar char="●"/>
            </a:pPr>
            <a:r>
              <a:rPr lang="fr-FR" sz="900" dirty="0" err="1"/>
              <a:t>cap.ca_arrondie_par_employe</a:t>
            </a:r>
            <a:r>
              <a:rPr lang="fr-FR" sz="900" dirty="0"/>
              <a:t>,</a:t>
            </a:r>
          </a:p>
          <a:p>
            <a:pPr marR="152400" lvl="0" indent="-285750">
              <a:buClr>
                <a:srgbClr val="999999"/>
              </a:buClr>
              <a:buSzPts val="900"/>
              <a:buFont typeface="Inter"/>
              <a:buChar char="●"/>
            </a:pPr>
            <a:r>
              <a:rPr lang="fr-FR" sz="900" dirty="0"/>
              <a:t>CONCAT(ROUND(</a:t>
            </a:r>
            <a:r>
              <a:rPr lang="fr-FR" sz="900" dirty="0" err="1"/>
              <a:t>cap.ca_arrondie_par_employe</a:t>
            </a:r>
            <a:r>
              <a:rPr lang="fr-FR" sz="900" dirty="0"/>
              <a:t>*100.0/ca_arrondi,2),'%') AS </a:t>
            </a:r>
            <a:r>
              <a:rPr lang="fr-FR" sz="900" dirty="0" err="1"/>
              <a:t>part_ca_par_employe</a:t>
            </a:r>
            <a:endParaRPr lang="fr-FR" sz="900" dirty="0"/>
          </a:p>
          <a:p>
            <a:pPr marR="152400" lvl="0" indent="-285750">
              <a:buClr>
                <a:srgbClr val="999999"/>
              </a:buClr>
              <a:buSzPts val="900"/>
              <a:buFont typeface="Inter"/>
              <a:buChar char="●"/>
            </a:pPr>
            <a:r>
              <a:rPr lang="fr-FR" sz="900" dirty="0"/>
              <a:t>FROM </a:t>
            </a:r>
            <a:r>
              <a:rPr lang="fr-FR" sz="900" dirty="0" err="1"/>
              <a:t>ca_per_employe</a:t>
            </a:r>
            <a:r>
              <a:rPr lang="fr-FR" sz="900" dirty="0"/>
              <a:t> cap</a:t>
            </a:r>
          </a:p>
          <a:p>
            <a:pPr marR="152400" lvl="0" indent="-285750">
              <a:buClr>
                <a:srgbClr val="999999"/>
              </a:buClr>
              <a:buSzPts val="900"/>
              <a:buFont typeface="Inter"/>
              <a:buChar char="●"/>
            </a:pPr>
            <a:r>
              <a:rPr lang="fr-FR" sz="900" dirty="0"/>
              <a:t>JOIN </a:t>
            </a:r>
            <a:r>
              <a:rPr lang="fr-FR" sz="900" dirty="0" err="1"/>
              <a:t>ca_arrondi</a:t>
            </a:r>
            <a:r>
              <a:rPr lang="fr-FR" sz="900" dirty="0"/>
              <a:t> ca ON </a:t>
            </a:r>
            <a:r>
              <a:rPr lang="fr-FR" sz="900" dirty="0" err="1"/>
              <a:t>cap.id_employe</a:t>
            </a:r>
            <a:r>
              <a:rPr lang="fr-FR" sz="900" dirty="0"/>
              <a:t> = </a:t>
            </a:r>
            <a:r>
              <a:rPr lang="fr-FR" sz="900" dirty="0" err="1"/>
              <a:t>ca.id_employe</a:t>
            </a:r>
            <a:endParaRPr lang="fr-FR" sz="900" dirty="0"/>
          </a:p>
          <a:p>
            <a:pPr marR="152400" lvl="0" indent="-285750">
              <a:buClr>
                <a:srgbClr val="999999"/>
              </a:buClr>
              <a:buSzPts val="900"/>
              <a:buFont typeface="Inter"/>
              <a:buChar char="●"/>
            </a:pPr>
            <a:r>
              <a:rPr lang="fr-FR" sz="900" dirty="0"/>
              <a:t>JOIN </a:t>
            </a:r>
            <a:r>
              <a:rPr lang="fr-FR" sz="900" dirty="0" err="1"/>
              <a:t>employe</a:t>
            </a:r>
            <a:r>
              <a:rPr lang="fr-FR" sz="900" dirty="0"/>
              <a:t> e ON </a:t>
            </a:r>
            <a:r>
              <a:rPr lang="fr-FR" sz="900" dirty="0" err="1"/>
              <a:t>e.id_employe</a:t>
            </a:r>
            <a:r>
              <a:rPr lang="fr-FR" sz="900" dirty="0"/>
              <a:t> = </a:t>
            </a:r>
            <a:r>
              <a:rPr lang="fr-FR" sz="900" dirty="0" err="1"/>
              <a:t>ca.id_employe</a:t>
            </a:r>
            <a:endParaRPr lang="fr-FR" sz="900" dirty="0"/>
          </a:p>
          <a:p>
            <a:pPr marR="152400" lvl="0" indent="-285750">
              <a:buClr>
                <a:srgbClr val="999999"/>
              </a:buClr>
              <a:buSzPts val="900"/>
              <a:buFont typeface="Inter"/>
              <a:buChar char="●"/>
            </a:pPr>
            <a:r>
              <a:rPr lang="fr-FR" sz="900" dirty="0"/>
              <a:t>JOIN calendrier c ON </a:t>
            </a:r>
            <a:r>
              <a:rPr lang="fr-FR" sz="900" dirty="0" err="1"/>
              <a:t>e.date_debut</a:t>
            </a:r>
            <a:r>
              <a:rPr lang="fr-FR" sz="900" dirty="0"/>
              <a:t> = </a:t>
            </a:r>
            <a:r>
              <a:rPr lang="fr-FR" sz="900" dirty="0" err="1"/>
              <a:t>c.date</a:t>
            </a:r>
            <a:endParaRPr lang="fr-FR" sz="900" dirty="0"/>
          </a:p>
          <a:p>
            <a:pPr marR="152400" lvl="0" indent="-285750">
              <a:buClr>
                <a:srgbClr val="999999"/>
              </a:buClr>
              <a:buSzPts val="900"/>
              <a:buFont typeface="Inter"/>
              <a:buChar char="●"/>
            </a:pPr>
            <a:r>
              <a:rPr lang="fr-FR" sz="900" dirty="0"/>
              <a:t>ORDER BY </a:t>
            </a:r>
            <a:r>
              <a:rPr lang="fr-FR" sz="900" dirty="0" err="1"/>
              <a:t>part_ca_par_employe</a:t>
            </a:r>
            <a:r>
              <a:rPr lang="fr-FR" sz="900" dirty="0"/>
              <a:t> DESC</a:t>
            </a:r>
          </a:p>
          <a:p>
            <a:pPr marR="152400" lvl="0" indent="-285750">
              <a:buClr>
                <a:srgbClr val="999999"/>
              </a:buClr>
              <a:buSzPts val="900"/>
              <a:buFont typeface="Inter"/>
              <a:buChar char="●"/>
            </a:pPr>
            <a:r>
              <a:rPr lang="fr-FR" sz="900" dirty="0"/>
              <a:t>;</a:t>
            </a:r>
            <a:endParaRPr sz="900" dirty="0"/>
          </a:p>
        </p:txBody>
      </p:sp>
      <p:sp>
        <p:nvSpPr>
          <p:cNvPr id="183" name="Google Shape;183;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fr"/>
              <a:t>Résultat des requêtes SQL</a:t>
            </a:r>
            <a:endParaRPr/>
          </a:p>
          <a:p>
            <a:pPr marL="0" lvl="0" indent="0" algn="l" rtl="0">
              <a:spcBef>
                <a:spcPts val="0"/>
              </a:spcBef>
              <a:spcAft>
                <a:spcPts val="0"/>
              </a:spcAft>
              <a:buSzPts val="990"/>
              <a:buNone/>
            </a:pPr>
            <a:r>
              <a:rPr lang="fr" sz="1850"/>
              <a:t>Le chiffre d’affaires encaissé par employé</a:t>
            </a:r>
            <a:endParaRPr sz="1850"/>
          </a:p>
          <a:p>
            <a:pPr marL="0" lvl="0" indent="0" algn="l" rtl="0">
              <a:spcBef>
                <a:spcPts val="0"/>
              </a:spcBef>
              <a:spcAft>
                <a:spcPts val="0"/>
              </a:spcAft>
              <a:buSzPts val="990"/>
              <a:buNone/>
            </a:pPr>
            <a:endParaRPr/>
          </a:p>
        </p:txBody>
      </p:sp>
      <p:pic>
        <p:nvPicPr>
          <p:cNvPr id="4" name="Image 3">
            <a:extLst>
              <a:ext uri="{FF2B5EF4-FFF2-40B4-BE49-F238E27FC236}">
                <a16:creationId xmlns:a16="http://schemas.microsoft.com/office/drawing/2014/main" id="{306DB767-AC99-AEA5-AB6B-37C325BCED93}"/>
              </a:ext>
            </a:extLst>
          </p:cNvPr>
          <p:cNvPicPr>
            <a:picLocks noChangeAspect="1"/>
          </p:cNvPicPr>
          <p:nvPr/>
        </p:nvPicPr>
        <p:blipFill>
          <a:blip r:embed="rId3"/>
          <a:stretch>
            <a:fillRect/>
          </a:stretch>
        </p:blipFill>
        <p:spPr>
          <a:xfrm>
            <a:off x="5109812" y="1567550"/>
            <a:ext cx="3894677" cy="212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Analyse des logs</a:t>
            </a:r>
            <a:endParaRPr/>
          </a:p>
          <a:p>
            <a:pPr marL="0" lvl="0" indent="0" algn="l" rtl="0">
              <a:spcBef>
                <a:spcPts val="0"/>
              </a:spcBef>
              <a:spcAft>
                <a:spcPts val="0"/>
              </a:spcAft>
              <a:buNone/>
            </a:pPr>
            <a:r>
              <a:rPr lang="fr"/>
              <a:t>Dictionnaire des données et explications</a:t>
            </a:r>
            <a:endParaRPr/>
          </a:p>
        </p:txBody>
      </p:sp>
      <p:sp>
        <p:nvSpPr>
          <p:cNvPr id="189" name="Google Shape;189;p22"/>
          <p:cNvSpPr txBox="1">
            <a:spLocks noGrp="1"/>
          </p:cNvSpPr>
          <p:nvPr>
            <p:ph type="body" idx="1"/>
          </p:nvPr>
        </p:nvSpPr>
        <p:spPr>
          <a:xfrm>
            <a:off x="1297500" y="1567550"/>
            <a:ext cx="7038900" cy="31822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fr" dirty="0"/>
              <a:t>Nombre de logs: 4 (Client, Employé, Produits, Ventes)</a:t>
            </a:r>
            <a:endParaRPr dirty="0"/>
          </a:p>
          <a:p>
            <a:pPr marL="0" lvl="0" indent="0" algn="l" rtl="0">
              <a:spcBef>
                <a:spcPts val="1200"/>
              </a:spcBef>
              <a:spcAft>
                <a:spcPts val="0"/>
              </a:spcAft>
              <a:buNone/>
            </a:pPr>
            <a:r>
              <a:rPr lang="fr" dirty="0"/>
              <a:t>Nombre de logs par action : </a:t>
            </a:r>
          </a:p>
          <a:p>
            <a:pPr marL="0" lvl="0" indent="0" algn="l" rtl="0">
              <a:spcBef>
                <a:spcPts val="1200"/>
              </a:spcBef>
              <a:spcAft>
                <a:spcPts val="0"/>
              </a:spcAft>
              <a:buNone/>
            </a:pPr>
            <a:r>
              <a:rPr lang="fr" dirty="0"/>
              <a:t>	DELETE dans log Employé</a:t>
            </a:r>
          </a:p>
          <a:p>
            <a:pPr marL="0" lvl="0" indent="0" algn="l" rtl="0">
              <a:spcBef>
                <a:spcPts val="1200"/>
              </a:spcBef>
              <a:spcAft>
                <a:spcPts val="0"/>
              </a:spcAft>
              <a:buNone/>
            </a:pPr>
            <a:r>
              <a:rPr lang="fr" dirty="0"/>
              <a:t>	INSERT dans logs Client et Ventes</a:t>
            </a:r>
          </a:p>
          <a:p>
            <a:pPr marL="0" lvl="0" indent="0" algn="l" rtl="0">
              <a:spcBef>
                <a:spcPts val="1200"/>
              </a:spcBef>
              <a:spcAft>
                <a:spcPts val="0"/>
              </a:spcAft>
              <a:buNone/>
            </a:pPr>
            <a:r>
              <a:rPr lang="fr" dirty="0"/>
              <a:t>	UPDATE dans logs Employé et Produits</a:t>
            </a:r>
            <a:endParaRPr dirty="0"/>
          </a:p>
          <a:p>
            <a:pPr marL="0" lvl="0" indent="0" algn="l" rtl="0">
              <a:spcBef>
                <a:spcPts val="1200"/>
              </a:spcBef>
              <a:spcAft>
                <a:spcPts val="0"/>
              </a:spcAft>
              <a:buNone/>
            </a:pPr>
            <a:r>
              <a:rPr lang="fr" dirty="0"/>
              <a:t>Explication des logs (quelle table, quelle modification…)</a:t>
            </a:r>
            <a:endParaRPr dirty="0"/>
          </a:p>
          <a:p>
            <a:pPr marL="0" lvl="0" indent="0" algn="l" rtl="0">
              <a:lnSpc>
                <a:spcPct val="120000"/>
              </a:lnSpc>
              <a:spcBef>
                <a:spcPts val="1200"/>
              </a:spcBef>
              <a:buNone/>
            </a:pPr>
            <a:r>
              <a:rPr lang="fr-FR" dirty="0"/>
              <a:t>Dans le log Client, on a ajouté à la table Client de nouveaux clients </a:t>
            </a:r>
          </a:p>
          <a:p>
            <a:pPr marL="0" lvl="0" indent="0" algn="l" rtl="0">
              <a:lnSpc>
                <a:spcPct val="120000"/>
              </a:lnSpc>
              <a:buNone/>
            </a:pPr>
            <a:r>
              <a:rPr lang="fr-FR" dirty="0"/>
              <a:t>Dans le log Ventes, on a ajouté à la table Ventes toutes les ventes qui ont eu lieu le 14 août</a:t>
            </a:r>
          </a:p>
          <a:p>
            <a:pPr marL="0" lvl="0" indent="0" algn="l" rtl="0">
              <a:lnSpc>
                <a:spcPct val="120000"/>
              </a:lnSpc>
              <a:buNone/>
            </a:pPr>
            <a:r>
              <a:rPr lang="fr-FR" dirty="0"/>
              <a:t>Dans le log Produits, on a fait la mise à jour des prix de certains produits de la table Produits</a:t>
            </a:r>
          </a:p>
          <a:p>
            <a:pPr marL="0" lvl="0" indent="0" algn="l" rtl="0">
              <a:lnSpc>
                <a:spcPct val="120000"/>
              </a:lnSpc>
              <a:buNone/>
            </a:pPr>
            <a:r>
              <a:rPr lang="fr-FR" dirty="0"/>
              <a:t>Dans le log Employé, on a supprimé des employés et mis à jour à jour le </a:t>
            </a:r>
            <a:r>
              <a:rPr lang="fr-FR" dirty="0" err="1"/>
              <a:t>mdp</a:t>
            </a:r>
            <a:r>
              <a:rPr lang="fr-FR" dirty="0"/>
              <a:t> de certains employés de la table Employés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Compréhension des problèmes sur la base des logs</a:t>
            </a:r>
            <a:endParaRPr/>
          </a:p>
        </p:txBody>
      </p:sp>
      <p:sp>
        <p:nvSpPr>
          <p:cNvPr id="195" name="Google Shape;195;p2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fr-FR" dirty="0"/>
              <a:t>L’analyse des ventes et des logs montre que l’instabilité du chiffre d’affaires vient du fait que certaines ventes associées au 14 août 2024 ont été insérées dans la base le 15 août 2024.</a:t>
            </a:r>
          </a:p>
          <a:p>
            <a:pPr marL="0" lvl="0" indent="0" algn="l" rtl="0">
              <a:spcBef>
                <a:spcPts val="0"/>
              </a:spcBef>
              <a:spcAft>
                <a:spcPts val="1200"/>
              </a:spcAft>
              <a:buNone/>
            </a:pPr>
            <a:r>
              <a:rPr lang="fr-FR" dirty="0"/>
              <a:t>L’analyse des logs montre que les ventes ajoutées le 15 août représentent un montant total de 9 057,29€, soit exactement l’écart entre les deux chiffres d’affaires observés. Ce qui montre qu’il n’y a pas de distinction entre la date des ventes et la date d’insertion des ventes pour Power BI.</a:t>
            </a:r>
          </a:p>
          <a:p>
            <a:pPr marL="0" lvl="0" indent="0" algn="l" rtl="0">
              <a:spcBef>
                <a:spcPts val="0"/>
              </a:spcBef>
              <a:spcAft>
                <a:spcPts val="1200"/>
              </a:spcAft>
              <a:buNone/>
            </a:pPr>
            <a:r>
              <a:rPr lang="fr-FR" dirty="0"/>
              <a:t>L’analyse des logs montre qu’il n’y a pas de distinction entre le chiffre d’affaires provisoire et le chiffre d’affaires final.</a:t>
            </a:r>
          </a:p>
          <a:p>
            <a:pPr marL="0" lvl="0" indent="0" algn="l" rtl="0">
              <a:spcBef>
                <a:spcPts val="0"/>
              </a:spcBef>
              <a:spcAft>
                <a:spcPts val="1200"/>
              </a:spcAft>
              <a:buNone/>
            </a:pPr>
            <a:r>
              <a:rPr lang="fr-FR" dirty="0"/>
              <a:t>Les données sensibles ne sont pas protégées. Les </a:t>
            </a:r>
            <a:r>
              <a:rPr lang="fr-FR" dirty="0" err="1"/>
              <a:t>hash_mdp</a:t>
            </a:r>
            <a:r>
              <a:rPr lang="fr-FR" dirty="0"/>
              <a:t>, nom, prénom sont en clair dans les logs.</a:t>
            </a:r>
          </a:p>
          <a:p>
            <a:pPr marL="0" lvl="0" indent="0">
              <a:spcAft>
                <a:spcPts val="1200"/>
              </a:spcAft>
              <a:buNone/>
            </a:pPr>
            <a:r>
              <a:rPr lang="fr-FR" dirty="0"/>
              <a:t>La qualité et le typage des données sont à revoir. En effet, dans les logs, la colonne </a:t>
            </a:r>
            <a:r>
              <a:rPr lang="fr-FR" dirty="0" err="1"/>
              <a:t>detail</a:t>
            </a:r>
            <a:r>
              <a:rPr lang="fr-FR" dirty="0"/>
              <a:t> contient à la fois des dates, des prix, des numéros clients, des numéros de tickets. La colonne </a:t>
            </a:r>
            <a:r>
              <a:rPr lang="fr-FR" dirty="0" err="1"/>
              <a:t>id_ligne</a:t>
            </a:r>
            <a:r>
              <a:rPr lang="fr-FR" dirty="0"/>
              <a:t> contient des chiffres et des caractères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xfrm>
            <a:off x="1297500" y="393750"/>
            <a:ext cx="7038900" cy="4803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Google Shape;195;p23">
            <a:extLst>
              <a:ext uri="{FF2B5EF4-FFF2-40B4-BE49-F238E27FC236}">
                <a16:creationId xmlns:a16="http://schemas.microsoft.com/office/drawing/2014/main" id="{1DA701F3-188B-BA02-2619-9523D886202B}"/>
              </a:ext>
            </a:extLst>
          </p:cNvPr>
          <p:cNvSpPr txBox="1">
            <a:spLocks noGrp="1"/>
          </p:cNvSpPr>
          <p:nvPr>
            <p:ph type="body" idx="1"/>
          </p:nvPr>
        </p:nvSpPr>
        <p:spPr>
          <a:xfrm>
            <a:off x="1297500" y="1169894"/>
            <a:ext cx="7038900" cy="3308856"/>
          </a:xfrm>
          <a:prstGeom prst="rect">
            <a:avLst/>
          </a:prstGeom>
        </p:spPr>
        <p:txBody>
          <a:bodyPr spcFirstLastPara="1" wrap="square" lIns="91425" tIns="91425" rIns="91425" bIns="91425" anchor="t" anchorCtr="0">
            <a:normAutofit fontScale="92500" lnSpcReduction="10000"/>
          </a:bodyPr>
          <a:lstStyle/>
          <a:p>
            <a:pPr lvl="0"/>
            <a:r>
              <a:rPr lang="fr-FR" dirty="0"/>
              <a:t>Mettre en place un contrôle quotidien pour comparer les ventes attendues, les ventes chargées et les ventes disponibles dans le cube OLAP,</a:t>
            </a:r>
          </a:p>
          <a:p>
            <a:pPr lvl="0"/>
            <a:endParaRPr lang="fr-FR" dirty="0"/>
          </a:p>
          <a:p>
            <a:pPr lvl="0"/>
            <a:r>
              <a:rPr lang="fr-FR" dirty="0"/>
              <a:t>Tracer les dates d’insertion et de mise à jour afin de distinguer la date d’achat réelle de la date d’intégration dans la base de données,</a:t>
            </a:r>
          </a:p>
          <a:p>
            <a:pPr lvl="0"/>
            <a:endParaRPr lang="fr-FR" dirty="0"/>
          </a:p>
          <a:p>
            <a:pPr lvl="0"/>
            <a:r>
              <a:rPr lang="fr-FR" dirty="0"/>
              <a:t>Mettre en place une supervision de la base de données,</a:t>
            </a:r>
          </a:p>
          <a:p>
            <a:pPr lvl="0"/>
            <a:endParaRPr lang="fr-FR" dirty="0"/>
          </a:p>
          <a:p>
            <a:pPr lvl="0"/>
            <a:r>
              <a:rPr lang="fr-FR" dirty="0"/>
              <a:t>Renforcer la gouvernance des données sensibles en supprimant ou masquant les informations personnelles non nécessaires pour l’analyse,</a:t>
            </a:r>
          </a:p>
          <a:p>
            <a:pPr lvl="0"/>
            <a:endParaRPr lang="fr-FR" dirty="0"/>
          </a:p>
          <a:p>
            <a:pPr lvl="0"/>
            <a:r>
              <a:rPr lang="fr-FR" dirty="0"/>
              <a:t>Documenter le modèle de données, le dictionnaire de données et les règles de calcul des indicateurs clés,</a:t>
            </a:r>
          </a:p>
          <a:p>
            <a:pPr lvl="0"/>
            <a:endParaRPr lang="fr-FR" dirty="0"/>
          </a:p>
          <a:p>
            <a:pPr lvl="0"/>
            <a:r>
              <a:rPr lang="fr-FR" dirty="0"/>
              <a:t>Améliorer le typage et la qualité des données.</a:t>
            </a:r>
          </a:p>
          <a:p>
            <a:pPr marL="0" lvl="0" indent="0" algn="l" rtl="0">
              <a:spcBef>
                <a:spcPts val="0"/>
              </a:spcBef>
              <a:spcAft>
                <a:spcPts val="120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261614-C743-8DB5-82C4-02B1A7588B09}"/>
              </a:ext>
            </a:extLst>
          </p:cNvPr>
          <p:cNvSpPr>
            <a:spLocks noGrp="1"/>
          </p:cNvSpPr>
          <p:nvPr>
            <p:ph type="title"/>
          </p:nvPr>
        </p:nvSpPr>
        <p:spPr/>
        <p:txBody>
          <a:bodyPr>
            <a:normAutofit/>
          </a:bodyPr>
          <a:lstStyle/>
          <a:p>
            <a:r>
              <a:rPr lang="fr-FR" dirty="0"/>
              <a:t>Recommandations pour l’entreprise</a:t>
            </a:r>
            <a:br>
              <a:rPr lang="fr-FR" dirty="0"/>
            </a:br>
            <a:r>
              <a:rPr lang="fr-FR" sz="2200" dirty="0"/>
              <a:t>Evaluation des risques</a:t>
            </a:r>
            <a:endParaRPr lang="fr-FR" dirty="0"/>
          </a:p>
        </p:txBody>
      </p:sp>
      <p:sp>
        <p:nvSpPr>
          <p:cNvPr id="3" name="Espace réservé du texte 2">
            <a:extLst>
              <a:ext uri="{FF2B5EF4-FFF2-40B4-BE49-F238E27FC236}">
                <a16:creationId xmlns:a16="http://schemas.microsoft.com/office/drawing/2014/main" id="{D915014C-9108-4EA6-38CC-722EBE2210FF}"/>
              </a:ext>
            </a:extLst>
          </p:cNvPr>
          <p:cNvSpPr>
            <a:spLocks noGrp="1"/>
          </p:cNvSpPr>
          <p:nvPr>
            <p:ph type="body" idx="1"/>
          </p:nvPr>
        </p:nvSpPr>
        <p:spPr/>
        <p:txBody>
          <a:bodyPr/>
          <a:lstStyle/>
          <a:p>
            <a:endParaRPr lang="fr-FR"/>
          </a:p>
        </p:txBody>
      </p:sp>
      <p:graphicFrame>
        <p:nvGraphicFramePr>
          <p:cNvPr id="5" name="Tableau 4">
            <a:extLst>
              <a:ext uri="{FF2B5EF4-FFF2-40B4-BE49-F238E27FC236}">
                <a16:creationId xmlns:a16="http://schemas.microsoft.com/office/drawing/2014/main" id="{CFB7419D-4023-709F-B85C-E11FFD1EEECD}"/>
              </a:ext>
            </a:extLst>
          </p:cNvPr>
          <p:cNvGraphicFramePr>
            <a:graphicFrameLocks noGrp="1"/>
          </p:cNvGraphicFramePr>
          <p:nvPr>
            <p:extLst>
              <p:ext uri="{D42A27DB-BD31-4B8C-83A1-F6EECF244321}">
                <p14:modId xmlns:p14="http://schemas.microsoft.com/office/powerpoint/2010/main" val="2027639414"/>
              </p:ext>
            </p:extLst>
          </p:nvPr>
        </p:nvGraphicFramePr>
        <p:xfrm>
          <a:off x="975535" y="1347043"/>
          <a:ext cx="7515658" cy="3402707"/>
        </p:xfrm>
        <a:graphic>
          <a:graphicData uri="http://schemas.openxmlformats.org/drawingml/2006/table">
            <a:tbl>
              <a:tblPr firstRow="1" firstCol="1" bandRow="1"/>
              <a:tblGrid>
                <a:gridCol w="422712">
                  <a:extLst>
                    <a:ext uri="{9D8B030D-6E8A-4147-A177-3AD203B41FA5}">
                      <a16:colId xmlns:a16="http://schemas.microsoft.com/office/drawing/2014/main" val="3647396902"/>
                    </a:ext>
                  </a:extLst>
                </a:gridCol>
                <a:gridCol w="1418471">
                  <a:extLst>
                    <a:ext uri="{9D8B030D-6E8A-4147-A177-3AD203B41FA5}">
                      <a16:colId xmlns:a16="http://schemas.microsoft.com/office/drawing/2014/main" val="2648165167"/>
                    </a:ext>
                  </a:extLst>
                </a:gridCol>
                <a:gridCol w="1424367">
                  <a:extLst>
                    <a:ext uri="{9D8B030D-6E8A-4147-A177-3AD203B41FA5}">
                      <a16:colId xmlns:a16="http://schemas.microsoft.com/office/drawing/2014/main" val="2295996634"/>
                    </a:ext>
                  </a:extLst>
                </a:gridCol>
                <a:gridCol w="1659600">
                  <a:extLst>
                    <a:ext uri="{9D8B030D-6E8A-4147-A177-3AD203B41FA5}">
                      <a16:colId xmlns:a16="http://schemas.microsoft.com/office/drawing/2014/main" val="3855645686"/>
                    </a:ext>
                  </a:extLst>
                </a:gridCol>
                <a:gridCol w="1041745">
                  <a:extLst>
                    <a:ext uri="{9D8B030D-6E8A-4147-A177-3AD203B41FA5}">
                      <a16:colId xmlns:a16="http://schemas.microsoft.com/office/drawing/2014/main" val="1460709789"/>
                    </a:ext>
                  </a:extLst>
                </a:gridCol>
                <a:gridCol w="1548763">
                  <a:extLst>
                    <a:ext uri="{9D8B030D-6E8A-4147-A177-3AD203B41FA5}">
                      <a16:colId xmlns:a16="http://schemas.microsoft.com/office/drawing/2014/main" val="1430257461"/>
                    </a:ext>
                  </a:extLst>
                </a:gridCol>
              </a:tblGrid>
              <a:tr h="250989">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ID</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2E75B6"/>
                    </a:solidFill>
                  </a:tcPr>
                </a:tc>
                <a:tc>
                  <a:txBody>
                    <a:bodyPr/>
                    <a:lstStyle/>
                    <a:p>
                      <a:pPr algn="ctr">
                        <a:lnSpc>
                          <a:spcPct val="107000"/>
                        </a:lnSpc>
                        <a:spcBef>
                          <a:spcPts val="800"/>
                        </a:spcBef>
                        <a:buNone/>
                      </a:pPr>
                      <a:r>
                        <a:rPr lang="fr-FR" sz="900" b="1" dirty="0">
                          <a:solidFill>
                            <a:srgbClr val="FFFFFF"/>
                          </a:solidFill>
                          <a:effectLst/>
                          <a:latin typeface="Arial" panose="020B0604020202020204" pitchFamily="34" charset="0"/>
                          <a:ea typeface="Times New Roman" panose="02020603050405020304" pitchFamily="18" charset="0"/>
                        </a:rPr>
                        <a:t>Vulnérabilité / Constatation</a:t>
                      </a:r>
                      <a:endParaRPr lang="fr-FR" sz="1000" dirty="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2E75B6"/>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Type de vulnérabilité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2E75B6"/>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Probabilité</a:t>
                      </a:r>
                      <a:br>
                        <a:rPr lang="fr-FR" sz="900" b="1">
                          <a:solidFill>
                            <a:srgbClr val="FFFFFF"/>
                          </a:solidFill>
                          <a:effectLst/>
                          <a:latin typeface="Arial" panose="020B0604020202020204" pitchFamily="34" charset="0"/>
                          <a:ea typeface="Times New Roman" panose="02020603050405020304" pitchFamily="18" charset="0"/>
                        </a:rPr>
                      </a:br>
                      <a:r>
                        <a:rPr lang="fr-FR" sz="900" b="1">
                          <a:solidFill>
                            <a:srgbClr val="FFFFFF"/>
                          </a:solidFill>
                          <a:effectLst/>
                          <a:latin typeface="Arial" panose="020B0604020202020204" pitchFamily="34" charset="0"/>
                          <a:ea typeface="Times New Roman" panose="02020603050405020304" pitchFamily="18" charset="0"/>
                        </a:rPr>
                        <a:t>(Faible/Moyenne/Élevée)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2E75B6"/>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Impact</a:t>
                      </a:r>
                      <a:br>
                        <a:rPr lang="fr-FR" sz="900" b="1">
                          <a:solidFill>
                            <a:srgbClr val="FFFFFF"/>
                          </a:solidFill>
                          <a:effectLst/>
                          <a:latin typeface="Arial" panose="020B0604020202020204" pitchFamily="34" charset="0"/>
                          <a:ea typeface="Times New Roman" panose="02020603050405020304" pitchFamily="18" charset="0"/>
                        </a:rPr>
                      </a:br>
                      <a:r>
                        <a:rPr lang="fr-FR" sz="900" b="1">
                          <a:solidFill>
                            <a:srgbClr val="FFFFFF"/>
                          </a:solidFill>
                          <a:effectLst/>
                          <a:latin typeface="Arial" panose="020B0604020202020204" pitchFamily="34" charset="0"/>
                          <a:ea typeface="Times New Roman" panose="02020603050405020304" pitchFamily="18" charset="0"/>
                        </a:rPr>
                        <a:t>(Faible/Moyen/Élevé)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2E75B6"/>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Niveau de Risque</a:t>
                      </a:r>
                      <a:br>
                        <a:rPr lang="fr-FR" sz="900" b="1">
                          <a:solidFill>
                            <a:srgbClr val="FFFFFF"/>
                          </a:solidFill>
                          <a:effectLst/>
                          <a:latin typeface="Arial" panose="020B0604020202020204" pitchFamily="34" charset="0"/>
                          <a:ea typeface="Times New Roman" panose="02020603050405020304" pitchFamily="18" charset="0"/>
                        </a:rPr>
                      </a:br>
                      <a:r>
                        <a:rPr lang="fr-FR" sz="900" b="1">
                          <a:solidFill>
                            <a:srgbClr val="FFFFFF"/>
                          </a:solidFill>
                          <a:effectLst/>
                          <a:latin typeface="Arial" panose="020B0604020202020204" pitchFamily="34" charset="0"/>
                          <a:ea typeface="Times New Roman" panose="02020603050405020304" pitchFamily="18" charset="0"/>
                        </a:rPr>
                        <a:t>(auto)</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2E75B6"/>
                    </a:solidFill>
                  </a:tcPr>
                </a:tc>
                <a:extLst>
                  <a:ext uri="{0D108BD9-81ED-4DB2-BD59-A6C34878D82A}">
                    <a16:rowId xmlns:a16="http://schemas.microsoft.com/office/drawing/2014/main" val="1591529348"/>
                  </a:ext>
                </a:extLst>
              </a:tr>
              <a:tr h="466928">
                <a:tc>
                  <a:txBody>
                    <a:bodyPr/>
                    <a:lstStyle/>
                    <a:p>
                      <a:pPr algn="ctr">
                        <a:lnSpc>
                          <a:spcPct val="107000"/>
                        </a:lnSpc>
                        <a:spcBef>
                          <a:spcPts val="800"/>
                        </a:spcBef>
                        <a:buNone/>
                      </a:pPr>
                      <a:r>
                        <a:rPr lang="fr-FR" sz="900" b="1">
                          <a:solidFill>
                            <a:srgbClr val="000000"/>
                          </a:solidFill>
                          <a:effectLst/>
                          <a:latin typeface="Arial" panose="020B0604020202020204" pitchFamily="34" charset="0"/>
                          <a:ea typeface="Times New Roman" panose="02020603050405020304" pitchFamily="18" charset="0"/>
                        </a:rPr>
                        <a:t>VUL-001</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Instabilité du chiffre d’affaires</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nSpc>
                          <a:spcPct val="107000"/>
                        </a:lnSpc>
                        <a:spcBef>
                          <a:spcPts val="800"/>
                        </a:spcBef>
                        <a:buNone/>
                      </a:pPr>
                      <a:r>
                        <a:rPr lang="fr-FR" sz="900" dirty="0" err="1">
                          <a:solidFill>
                            <a:srgbClr val="000000"/>
                          </a:solidFill>
                          <a:effectLst/>
                          <a:latin typeface="Arial" panose="020B0604020202020204" pitchFamily="34" charset="0"/>
                          <a:ea typeface="Times New Roman" panose="02020603050405020304" pitchFamily="18" charset="0"/>
                        </a:rPr>
                        <a:t>Reporting</a:t>
                      </a:r>
                      <a:r>
                        <a:rPr lang="fr-FR" sz="900" dirty="0">
                          <a:solidFill>
                            <a:srgbClr val="000000"/>
                          </a:solidFill>
                          <a:effectLst/>
                          <a:latin typeface="Arial" panose="020B0604020202020204" pitchFamily="34" charset="0"/>
                          <a:ea typeface="Times New Roman" panose="02020603050405020304" pitchFamily="18" charset="0"/>
                        </a:rPr>
                        <a:t> erroné</a:t>
                      </a:r>
                      <a:endParaRPr lang="fr-FR" sz="1000" dirty="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CRITIQUE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C00000"/>
                    </a:solidFill>
                  </a:tcPr>
                </a:tc>
                <a:extLst>
                  <a:ext uri="{0D108BD9-81ED-4DB2-BD59-A6C34878D82A}">
                    <a16:rowId xmlns:a16="http://schemas.microsoft.com/office/drawing/2014/main" val="2957650444"/>
                  </a:ext>
                </a:extLst>
              </a:tr>
              <a:tr h="466928">
                <a:tc>
                  <a:txBody>
                    <a:bodyPr/>
                    <a:lstStyle/>
                    <a:p>
                      <a:pPr algn="ctr">
                        <a:lnSpc>
                          <a:spcPct val="107000"/>
                        </a:lnSpc>
                        <a:spcBef>
                          <a:spcPts val="800"/>
                        </a:spcBef>
                        <a:buNone/>
                      </a:pPr>
                      <a:r>
                        <a:rPr lang="fr-FR" sz="900" b="1">
                          <a:solidFill>
                            <a:srgbClr val="000000"/>
                          </a:solidFill>
                          <a:effectLst/>
                          <a:latin typeface="Arial" panose="020B0604020202020204" pitchFamily="34" charset="0"/>
                          <a:ea typeface="Times New Roman" panose="02020603050405020304" pitchFamily="18" charset="0"/>
                        </a:rPr>
                        <a:t>VUL-002</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Insertions tardives des ventes</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nSpc>
                          <a:spcPct val="107000"/>
                        </a:lnSpc>
                        <a:spcBef>
                          <a:spcPts val="800"/>
                        </a:spcBef>
                        <a:buNone/>
                      </a:pPr>
                      <a:r>
                        <a:rPr lang="fr-FR" sz="900" dirty="0">
                          <a:solidFill>
                            <a:srgbClr val="000000"/>
                          </a:solidFill>
                          <a:effectLst/>
                          <a:latin typeface="Arial" panose="020B0604020202020204" pitchFamily="34" charset="0"/>
                          <a:ea typeface="Times New Roman" panose="02020603050405020304" pitchFamily="18" charset="0"/>
                        </a:rPr>
                        <a:t>Données incomplètes dans Power BI</a:t>
                      </a:r>
                      <a:endParaRPr lang="fr-FR" sz="1000" dirty="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CRITIQUE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C00000"/>
                    </a:solidFill>
                  </a:tcPr>
                </a:tc>
                <a:extLst>
                  <a:ext uri="{0D108BD9-81ED-4DB2-BD59-A6C34878D82A}">
                    <a16:rowId xmlns:a16="http://schemas.microsoft.com/office/drawing/2014/main" val="2803650548"/>
                  </a:ext>
                </a:extLst>
              </a:tr>
              <a:tr h="311285">
                <a:tc>
                  <a:txBody>
                    <a:bodyPr/>
                    <a:lstStyle/>
                    <a:p>
                      <a:pPr algn="ctr">
                        <a:lnSpc>
                          <a:spcPct val="107000"/>
                        </a:lnSpc>
                        <a:spcBef>
                          <a:spcPts val="800"/>
                        </a:spcBef>
                        <a:buNone/>
                      </a:pPr>
                      <a:r>
                        <a:rPr lang="fr-FR" sz="900" b="1">
                          <a:solidFill>
                            <a:srgbClr val="000000"/>
                          </a:solidFill>
                          <a:effectLst/>
                          <a:latin typeface="Arial" panose="020B0604020202020204" pitchFamily="34" charset="0"/>
                          <a:ea typeface="Times New Roman" panose="02020603050405020304" pitchFamily="18" charset="0"/>
                        </a:rPr>
                        <a:t>VUL-003</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Absence de supervision de la base de données</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Origine des anomalies non identifiable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CRITIQUE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C00000"/>
                    </a:solidFill>
                  </a:tcPr>
                </a:tc>
                <a:extLst>
                  <a:ext uri="{0D108BD9-81ED-4DB2-BD59-A6C34878D82A}">
                    <a16:rowId xmlns:a16="http://schemas.microsoft.com/office/drawing/2014/main" val="932302985"/>
                  </a:ext>
                </a:extLst>
              </a:tr>
              <a:tr h="466928">
                <a:tc>
                  <a:txBody>
                    <a:bodyPr/>
                    <a:lstStyle/>
                    <a:p>
                      <a:pPr algn="ctr">
                        <a:lnSpc>
                          <a:spcPct val="107000"/>
                        </a:lnSpc>
                        <a:spcBef>
                          <a:spcPts val="800"/>
                        </a:spcBef>
                        <a:buNone/>
                      </a:pPr>
                      <a:r>
                        <a:rPr lang="fr-FR" sz="900" b="1">
                          <a:solidFill>
                            <a:srgbClr val="000000"/>
                          </a:solidFill>
                          <a:effectLst/>
                          <a:latin typeface="Arial" panose="020B0604020202020204" pitchFamily="34" charset="0"/>
                          <a:ea typeface="Times New Roman" panose="02020603050405020304" pitchFamily="18" charset="0"/>
                        </a:rPr>
                        <a:t>VUL-004</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Données sensibles dans la BI</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Risque sécurité / conformité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Moyenne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0000"/>
                    </a:solidFill>
                  </a:tcPr>
                </a:tc>
                <a:extLst>
                  <a:ext uri="{0D108BD9-81ED-4DB2-BD59-A6C34878D82A}">
                    <a16:rowId xmlns:a16="http://schemas.microsoft.com/office/drawing/2014/main" val="3059502372"/>
                  </a:ext>
                </a:extLst>
              </a:tr>
              <a:tr h="933856">
                <a:tc>
                  <a:txBody>
                    <a:bodyPr/>
                    <a:lstStyle/>
                    <a:p>
                      <a:pPr algn="ctr">
                        <a:lnSpc>
                          <a:spcPct val="107000"/>
                        </a:lnSpc>
                        <a:spcBef>
                          <a:spcPts val="800"/>
                        </a:spcBef>
                        <a:buNone/>
                      </a:pPr>
                      <a:r>
                        <a:rPr lang="fr-FR" sz="900" b="1">
                          <a:solidFill>
                            <a:srgbClr val="000000"/>
                          </a:solidFill>
                          <a:effectLst/>
                          <a:latin typeface="Arial" panose="020B0604020202020204" pitchFamily="34" charset="0"/>
                          <a:ea typeface="Times New Roman" panose="02020603050405020304" pitchFamily="18" charset="0"/>
                        </a:rPr>
                        <a:t>VUL-005</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Documentation insuffisante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Mauvaise interprétation des données</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Élevée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Moyen</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EBF3FB"/>
                    </a:solidFill>
                  </a:tcPr>
                </a:tc>
                <a:tc>
                  <a:txBody>
                    <a:bodyPr/>
                    <a:lstStyle/>
                    <a:p>
                      <a:pPr algn="ctr">
                        <a:lnSpc>
                          <a:spcPct val="107000"/>
                        </a:lnSpc>
                        <a:spcBef>
                          <a:spcPts val="800"/>
                        </a:spcBef>
                        <a:buNone/>
                      </a:pPr>
                      <a:r>
                        <a:rPr lang="fr-FR" sz="900" b="1">
                          <a:solidFill>
                            <a:srgbClr val="FFFFFF"/>
                          </a:solidFill>
                          <a:effectLst/>
                          <a:latin typeface="Arial" panose="020B0604020202020204" pitchFamily="34" charset="0"/>
                          <a:ea typeface="Times New Roman" panose="02020603050405020304" pitchFamily="18" charset="0"/>
                        </a:rPr>
                        <a:t>ÉLEVÉ</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0000"/>
                    </a:solidFill>
                  </a:tcPr>
                </a:tc>
                <a:extLst>
                  <a:ext uri="{0D108BD9-81ED-4DB2-BD59-A6C34878D82A}">
                    <a16:rowId xmlns:a16="http://schemas.microsoft.com/office/drawing/2014/main" val="3566478361"/>
                  </a:ext>
                </a:extLst>
              </a:tr>
              <a:tr h="327204">
                <a:tc>
                  <a:txBody>
                    <a:bodyPr/>
                    <a:lstStyle/>
                    <a:p>
                      <a:pPr algn="ctr">
                        <a:lnSpc>
                          <a:spcPct val="107000"/>
                        </a:lnSpc>
                        <a:spcBef>
                          <a:spcPts val="800"/>
                        </a:spcBef>
                        <a:buNone/>
                      </a:pPr>
                      <a:r>
                        <a:rPr lang="fr-FR" sz="900" b="1">
                          <a:solidFill>
                            <a:srgbClr val="000000"/>
                          </a:solidFill>
                          <a:effectLst/>
                          <a:latin typeface="Arial" panose="020B0604020202020204" pitchFamily="34" charset="0"/>
                          <a:ea typeface="Times New Roman" panose="02020603050405020304" pitchFamily="18" charset="0"/>
                        </a:rPr>
                        <a:t>VUL-006</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Qualité et typage des données</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Erreurs de chargement ou de calcul</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Moyenne</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a:solidFill>
                            <a:srgbClr val="000000"/>
                          </a:solidFill>
                          <a:effectLst/>
                          <a:latin typeface="Arial" panose="020B0604020202020204" pitchFamily="34" charset="0"/>
                          <a:ea typeface="Times New Roman" panose="02020603050405020304" pitchFamily="18" charset="0"/>
                        </a:rPr>
                        <a:t>Moyen</a:t>
                      </a:r>
                      <a:endParaRPr lang="fr-FR" sz="100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FFFF"/>
                    </a:solidFill>
                  </a:tcPr>
                </a:tc>
                <a:tc>
                  <a:txBody>
                    <a:bodyPr/>
                    <a:lstStyle/>
                    <a:p>
                      <a:pPr algn="ctr">
                        <a:lnSpc>
                          <a:spcPct val="107000"/>
                        </a:lnSpc>
                        <a:spcBef>
                          <a:spcPts val="800"/>
                        </a:spcBef>
                        <a:buNone/>
                      </a:pPr>
                      <a:r>
                        <a:rPr lang="fr-FR" sz="900" b="1" dirty="0">
                          <a:solidFill>
                            <a:srgbClr val="FFFFFF"/>
                          </a:solidFill>
                          <a:effectLst/>
                          <a:latin typeface="Arial" panose="020B0604020202020204" pitchFamily="34" charset="0"/>
                          <a:ea typeface="Times New Roman" panose="02020603050405020304" pitchFamily="18" charset="0"/>
                        </a:rPr>
                        <a:t>MOYEN</a:t>
                      </a:r>
                      <a:endParaRPr lang="fr-FR" sz="1000" dirty="0">
                        <a:effectLst/>
                        <a:latin typeface="Segoe UI" panose="020B0502040204020203" pitchFamily="34" charset="0"/>
                        <a:ea typeface="Quattrocento Sans" panose="020B0502050000020003" pitchFamily="34" charset="0"/>
                      </a:endParaRPr>
                    </a:p>
                  </a:txBody>
                  <a:tcPr marL="41269" marR="41269" marT="0" marB="0" anchor="ctr">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solidFill>
                      <a:srgbClr val="FF9900"/>
                    </a:solidFill>
                  </a:tcPr>
                </a:tc>
                <a:extLst>
                  <a:ext uri="{0D108BD9-81ED-4DB2-BD59-A6C34878D82A}">
                    <a16:rowId xmlns:a16="http://schemas.microsoft.com/office/drawing/2014/main" val="3815215843"/>
                  </a:ext>
                </a:extLst>
              </a:tr>
            </a:tbl>
          </a:graphicData>
        </a:graphic>
      </p:graphicFrame>
    </p:spTree>
    <p:extLst>
      <p:ext uri="{BB962C8B-B14F-4D97-AF65-F5344CB8AC3E}">
        <p14:creationId xmlns:p14="http://schemas.microsoft.com/office/powerpoint/2010/main" val="3401566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42F60A-340C-F209-CB7C-5D5CDE2BC826}"/>
              </a:ext>
            </a:extLst>
          </p:cNvPr>
          <p:cNvSpPr>
            <a:spLocks noGrp="1"/>
          </p:cNvSpPr>
          <p:nvPr>
            <p:ph type="title"/>
          </p:nvPr>
        </p:nvSpPr>
        <p:spPr/>
        <p:txBody>
          <a:bodyPr/>
          <a:lstStyle/>
          <a:p>
            <a:r>
              <a:rPr lang="fr-FR" dirty="0"/>
              <a:t>Recommandations pour l’entreprise</a:t>
            </a:r>
          </a:p>
        </p:txBody>
      </p:sp>
      <p:sp>
        <p:nvSpPr>
          <p:cNvPr id="3" name="Espace réservé du texte 2">
            <a:extLst>
              <a:ext uri="{FF2B5EF4-FFF2-40B4-BE49-F238E27FC236}">
                <a16:creationId xmlns:a16="http://schemas.microsoft.com/office/drawing/2014/main" id="{730F206B-AE7B-886B-7D2E-CC0E45C1C301}"/>
              </a:ext>
            </a:extLst>
          </p:cNvPr>
          <p:cNvSpPr>
            <a:spLocks noGrp="1"/>
          </p:cNvSpPr>
          <p:nvPr>
            <p:ph type="body" idx="1"/>
          </p:nvPr>
        </p:nvSpPr>
        <p:spPr>
          <a:xfrm>
            <a:off x="1297500" y="1307850"/>
            <a:ext cx="7038900" cy="2911200"/>
          </a:xfrm>
        </p:spPr>
        <p:txBody>
          <a:bodyPr>
            <a:normAutofit fontScale="70000" lnSpcReduction="20000"/>
          </a:bodyPr>
          <a:lstStyle/>
          <a:p>
            <a:r>
              <a:rPr lang="fr-FR" dirty="0"/>
              <a:t>Créer une table avec les requêtes SQL suivantes pour contrôler les ventes entre ce qu’il y a dans la base de données et les logs.</a:t>
            </a:r>
          </a:p>
          <a:p>
            <a:pPr marL="146050" indent="0">
              <a:buNone/>
            </a:pPr>
            <a:endParaRPr lang="fr-FR" dirty="0"/>
          </a:p>
          <a:p>
            <a:pPr marL="146050" indent="0">
              <a:buNone/>
            </a:pPr>
            <a:r>
              <a:rPr lang="en-US" dirty="0"/>
              <a:t>CREATE TABLE </a:t>
            </a:r>
            <a:r>
              <a:rPr lang="en-US" dirty="0" err="1"/>
              <a:t>controle_completude_ventes</a:t>
            </a:r>
            <a:r>
              <a:rPr lang="en-US" dirty="0"/>
              <a:t> (</a:t>
            </a:r>
            <a:endParaRPr lang="fr-FR" dirty="0"/>
          </a:p>
          <a:p>
            <a:pPr marL="146050" indent="0">
              <a:buNone/>
            </a:pPr>
            <a:r>
              <a:rPr lang="en-US" dirty="0" err="1"/>
              <a:t>id_controle</a:t>
            </a:r>
            <a:r>
              <a:rPr lang="en-US" dirty="0"/>
              <a:t> SERIAL PRIMARY KEY,</a:t>
            </a:r>
            <a:endParaRPr lang="fr-FR" dirty="0"/>
          </a:p>
          <a:p>
            <a:pPr marL="146050" indent="0">
              <a:buNone/>
            </a:pPr>
            <a:r>
              <a:rPr lang="en-US" dirty="0" err="1"/>
              <a:t>date_vente</a:t>
            </a:r>
            <a:r>
              <a:rPr lang="en-US" dirty="0"/>
              <a:t> DATE NOT NULL,</a:t>
            </a:r>
            <a:endParaRPr lang="fr-FR" dirty="0"/>
          </a:p>
          <a:p>
            <a:pPr marL="146050" indent="0">
              <a:buNone/>
            </a:pPr>
            <a:r>
              <a:rPr lang="es-ES" dirty="0" err="1"/>
              <a:t>nb_ventes_base</a:t>
            </a:r>
            <a:r>
              <a:rPr lang="es-ES" dirty="0"/>
              <a:t> INTEGER,</a:t>
            </a:r>
            <a:endParaRPr lang="fr-FR" dirty="0"/>
          </a:p>
          <a:p>
            <a:pPr marL="146050" indent="0">
              <a:buNone/>
            </a:pPr>
            <a:r>
              <a:rPr lang="es-ES" dirty="0" err="1"/>
              <a:t>nb_ventes_logs</a:t>
            </a:r>
            <a:r>
              <a:rPr lang="es-ES" dirty="0"/>
              <a:t> INTEGER,</a:t>
            </a:r>
            <a:endParaRPr lang="fr-FR" dirty="0"/>
          </a:p>
          <a:p>
            <a:pPr marL="146050" indent="0">
              <a:buNone/>
            </a:pPr>
            <a:r>
              <a:rPr lang="en-US" dirty="0" err="1"/>
              <a:t>ca_base</a:t>
            </a:r>
            <a:r>
              <a:rPr lang="en-US" dirty="0"/>
              <a:t> NUMERIC(12,2),</a:t>
            </a:r>
            <a:endParaRPr lang="fr-FR" dirty="0"/>
          </a:p>
          <a:p>
            <a:pPr marL="146050" indent="0">
              <a:buNone/>
            </a:pPr>
            <a:r>
              <a:rPr lang="en-US" dirty="0" err="1"/>
              <a:t>ca_logs</a:t>
            </a:r>
            <a:r>
              <a:rPr lang="en-US" dirty="0"/>
              <a:t> NUMERIC(12,2),</a:t>
            </a:r>
            <a:endParaRPr lang="fr-FR" dirty="0"/>
          </a:p>
          <a:p>
            <a:pPr marL="146050" indent="0">
              <a:buNone/>
            </a:pPr>
            <a:r>
              <a:rPr lang="en-US" dirty="0" err="1"/>
              <a:t>ecart_ca</a:t>
            </a:r>
            <a:r>
              <a:rPr lang="en-US" dirty="0"/>
              <a:t> NUMERIC(12,2),</a:t>
            </a:r>
            <a:endParaRPr lang="fr-FR" dirty="0"/>
          </a:p>
          <a:p>
            <a:pPr marL="146050" indent="0">
              <a:buNone/>
            </a:pPr>
            <a:r>
              <a:rPr lang="en-US" dirty="0" err="1"/>
              <a:t>statut</a:t>
            </a:r>
            <a:r>
              <a:rPr lang="en-US" dirty="0"/>
              <a:t> VARCHAR(10) NOT NULL </a:t>
            </a:r>
            <a:endParaRPr lang="fr-FR" dirty="0"/>
          </a:p>
          <a:p>
            <a:pPr marL="146050" indent="0">
              <a:buNone/>
            </a:pPr>
            <a:r>
              <a:rPr lang="en-US" dirty="0"/>
              <a:t>	CHECK(</a:t>
            </a:r>
            <a:r>
              <a:rPr lang="en-US" dirty="0" err="1"/>
              <a:t>statut</a:t>
            </a:r>
            <a:r>
              <a:rPr lang="en-US" dirty="0"/>
              <a:t> IN('ANOMALIE', 'CONFORME')),</a:t>
            </a:r>
            <a:endParaRPr lang="fr-FR" dirty="0"/>
          </a:p>
          <a:p>
            <a:pPr marL="146050" indent="0">
              <a:buNone/>
            </a:pPr>
            <a:r>
              <a:rPr lang="en-US" dirty="0" err="1"/>
              <a:t>date_controle</a:t>
            </a:r>
            <a:r>
              <a:rPr lang="en-US" dirty="0"/>
              <a:t> TIMESTAMP NOT NULL DEFAULT CURRENT_TIMESTAMP,</a:t>
            </a:r>
            <a:endParaRPr lang="fr-FR" dirty="0"/>
          </a:p>
          <a:p>
            <a:pPr marL="146050" indent="0">
              <a:buNone/>
            </a:pPr>
            <a:r>
              <a:rPr lang="fr-FR" dirty="0" err="1"/>
              <a:t>id_controleur</a:t>
            </a:r>
            <a:r>
              <a:rPr lang="fr-FR" dirty="0"/>
              <a:t> VARCHAR,</a:t>
            </a:r>
          </a:p>
          <a:p>
            <a:pPr marL="146050" indent="0">
              <a:buNone/>
            </a:pPr>
            <a:r>
              <a:rPr lang="fr-FR" dirty="0"/>
              <a:t>commentaires TEXT</a:t>
            </a:r>
          </a:p>
          <a:p>
            <a:pPr marL="146050" indent="0">
              <a:buNone/>
            </a:pPr>
            <a:r>
              <a:rPr lang="fr-FR" dirty="0"/>
              <a:t>);</a:t>
            </a:r>
          </a:p>
          <a:p>
            <a:endParaRPr lang="fr-FR" dirty="0"/>
          </a:p>
          <a:p>
            <a:r>
              <a:rPr lang="fr-FR" dirty="0"/>
              <a:t>Cette table est complétée grâce à une procédure qui peut être appelée sur le jour souhaité (voir Rapport d’audit)</a:t>
            </a:r>
          </a:p>
        </p:txBody>
      </p:sp>
      <p:sp>
        <p:nvSpPr>
          <p:cNvPr id="4" name="Google Shape;200;p24">
            <a:extLst>
              <a:ext uri="{FF2B5EF4-FFF2-40B4-BE49-F238E27FC236}">
                <a16:creationId xmlns:a16="http://schemas.microsoft.com/office/drawing/2014/main" id="{5ACC8712-29DB-6984-14B4-9F77133A66E3}"/>
              </a:ext>
            </a:extLst>
          </p:cNvPr>
          <p:cNvSpPr txBox="1">
            <a:spLocks/>
          </p:cNvSpPr>
          <p:nvPr/>
        </p:nvSpPr>
        <p:spPr>
          <a:xfrm>
            <a:off x="1297500" y="393750"/>
            <a:ext cx="7038900" cy="4803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fr-FR" dirty="0"/>
              <a:t>Recommandations pour l’entreprise</a:t>
            </a:r>
          </a:p>
          <a:p>
            <a:r>
              <a:rPr lang="fr-FR" sz="2000" dirty="0"/>
              <a:t>Contrôle quotidien des ventes</a:t>
            </a:r>
          </a:p>
        </p:txBody>
      </p:sp>
      <p:pic>
        <p:nvPicPr>
          <p:cNvPr id="6" name="Image 5">
            <a:extLst>
              <a:ext uri="{FF2B5EF4-FFF2-40B4-BE49-F238E27FC236}">
                <a16:creationId xmlns:a16="http://schemas.microsoft.com/office/drawing/2014/main" id="{FAD53C3D-D20D-CA25-FC3B-C86F2FCCB940}"/>
              </a:ext>
            </a:extLst>
          </p:cNvPr>
          <p:cNvPicPr>
            <a:picLocks noChangeAspect="1"/>
          </p:cNvPicPr>
          <p:nvPr/>
        </p:nvPicPr>
        <p:blipFill>
          <a:blip r:embed="rId2"/>
          <a:stretch>
            <a:fillRect/>
          </a:stretch>
        </p:blipFill>
        <p:spPr>
          <a:xfrm>
            <a:off x="0" y="3898172"/>
            <a:ext cx="9144000" cy="1160860"/>
          </a:xfrm>
          <a:prstGeom prst="rect">
            <a:avLst/>
          </a:prstGeom>
        </p:spPr>
      </p:pic>
    </p:spTree>
    <p:extLst>
      <p:ext uri="{BB962C8B-B14F-4D97-AF65-F5344CB8AC3E}">
        <p14:creationId xmlns:p14="http://schemas.microsoft.com/office/powerpoint/2010/main" val="2413626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CD53B9-323E-E2C1-8175-B132DB9D6233}"/>
              </a:ext>
            </a:extLst>
          </p:cNvPr>
          <p:cNvSpPr>
            <a:spLocks noGrp="1"/>
          </p:cNvSpPr>
          <p:nvPr>
            <p:ph type="title"/>
          </p:nvPr>
        </p:nvSpPr>
        <p:spPr/>
        <p:txBody>
          <a:bodyPr>
            <a:normAutofit/>
          </a:bodyPr>
          <a:lstStyle/>
          <a:p>
            <a:r>
              <a:rPr lang="fr-FR" dirty="0"/>
              <a:t>Recommandations pour l’entreprise</a:t>
            </a:r>
            <a:br>
              <a:rPr lang="fr-FR" dirty="0"/>
            </a:br>
            <a:r>
              <a:rPr lang="fr-FR" sz="2000" dirty="0"/>
              <a:t>Distinguer date insertion et date achat</a:t>
            </a:r>
            <a:endParaRPr lang="fr-FR" dirty="0"/>
          </a:p>
        </p:txBody>
      </p:sp>
      <p:sp>
        <p:nvSpPr>
          <p:cNvPr id="3" name="Espace réservé du texte 2">
            <a:extLst>
              <a:ext uri="{FF2B5EF4-FFF2-40B4-BE49-F238E27FC236}">
                <a16:creationId xmlns:a16="http://schemas.microsoft.com/office/drawing/2014/main" id="{73FBE3FA-2219-E6E2-E18C-9063B107DCE3}"/>
              </a:ext>
            </a:extLst>
          </p:cNvPr>
          <p:cNvSpPr>
            <a:spLocks noGrp="1"/>
          </p:cNvSpPr>
          <p:nvPr>
            <p:ph type="body" idx="1"/>
          </p:nvPr>
        </p:nvSpPr>
        <p:spPr/>
        <p:txBody>
          <a:bodyPr>
            <a:normAutofit fontScale="85000" lnSpcReduction="20000"/>
          </a:bodyPr>
          <a:lstStyle/>
          <a:p>
            <a:r>
              <a:rPr lang="fr-FR" dirty="0"/>
              <a:t>Mettre dans la table de vente une colonne pour la date d’insertion et dans les logs, bien distinguer date de vente et date d’insertion. Requêtes à appliquer:</a:t>
            </a:r>
          </a:p>
          <a:p>
            <a:endParaRPr lang="fr-FR" dirty="0"/>
          </a:p>
          <a:p>
            <a:pPr marL="146050" indent="0">
              <a:buNone/>
            </a:pPr>
            <a:r>
              <a:rPr lang="fr-FR" dirty="0"/>
              <a:t>ALTER TABLE vente</a:t>
            </a:r>
          </a:p>
          <a:p>
            <a:pPr marL="146050" indent="0">
              <a:buNone/>
            </a:pPr>
            <a:r>
              <a:rPr lang="fr-FR" dirty="0"/>
              <a:t>ADD COLUMN </a:t>
            </a:r>
            <a:r>
              <a:rPr lang="fr-FR" dirty="0" err="1"/>
              <a:t>date_insertion</a:t>
            </a:r>
            <a:r>
              <a:rPr lang="fr-FR" dirty="0"/>
              <a:t> TIMESTAMP DEFAULT CURRENT_TIMESTAMP;</a:t>
            </a:r>
          </a:p>
          <a:p>
            <a:pPr marL="146050" indent="0">
              <a:buNone/>
            </a:pPr>
            <a:r>
              <a:rPr lang="fr-FR" dirty="0"/>
              <a:t> </a:t>
            </a:r>
          </a:p>
          <a:p>
            <a:pPr marL="146050" indent="0">
              <a:buNone/>
            </a:pPr>
            <a:r>
              <a:rPr lang="fr-FR" dirty="0"/>
              <a:t>ALTER TABLE </a:t>
            </a:r>
            <a:r>
              <a:rPr lang="fr-FR" dirty="0" err="1"/>
              <a:t>logs_ventes</a:t>
            </a:r>
            <a:br>
              <a:rPr lang="fr-FR" dirty="0"/>
            </a:br>
            <a:r>
              <a:rPr lang="fr-FR" dirty="0"/>
              <a:t>RENAME COLUMN date TO </a:t>
            </a:r>
            <a:r>
              <a:rPr lang="fr-FR" dirty="0" err="1"/>
              <a:t>date_insertion</a:t>
            </a:r>
            <a:r>
              <a:rPr lang="fr-FR" dirty="0"/>
              <a:t>;</a:t>
            </a:r>
          </a:p>
          <a:p>
            <a:pPr marL="146050" indent="0">
              <a:buNone/>
            </a:pPr>
            <a:r>
              <a:rPr lang="fr-FR" dirty="0"/>
              <a:t> </a:t>
            </a:r>
          </a:p>
          <a:p>
            <a:pPr marL="146050" indent="0">
              <a:buNone/>
            </a:pPr>
            <a:r>
              <a:rPr lang="fr-FR" dirty="0"/>
              <a:t>ALTER TABLE </a:t>
            </a:r>
            <a:r>
              <a:rPr lang="fr-FR" dirty="0" err="1"/>
              <a:t>logs_ventes</a:t>
            </a:r>
            <a:endParaRPr lang="fr-FR" dirty="0"/>
          </a:p>
          <a:p>
            <a:pPr marL="146050" indent="0">
              <a:buNone/>
            </a:pPr>
            <a:r>
              <a:rPr lang="fr-FR" dirty="0"/>
              <a:t>ADD COLUMN </a:t>
            </a:r>
            <a:r>
              <a:rPr lang="fr-FR" dirty="0" err="1"/>
              <a:t>date_vente</a:t>
            </a:r>
            <a:r>
              <a:rPr lang="fr-FR" dirty="0"/>
              <a:t> TEXT;</a:t>
            </a:r>
          </a:p>
          <a:p>
            <a:pPr marL="146050" indent="0">
              <a:buNone/>
            </a:pPr>
            <a:r>
              <a:rPr lang="fr-FR" dirty="0"/>
              <a:t>UPDATE </a:t>
            </a:r>
            <a:r>
              <a:rPr lang="fr-FR" dirty="0" err="1"/>
              <a:t>logs_ventes</a:t>
            </a:r>
            <a:endParaRPr lang="fr-FR" dirty="0"/>
          </a:p>
          <a:p>
            <a:pPr marL="146050" indent="0">
              <a:buNone/>
            </a:pPr>
            <a:r>
              <a:rPr lang="en-US" dirty="0"/>
              <a:t>SET </a:t>
            </a:r>
            <a:r>
              <a:rPr lang="en-US" dirty="0" err="1"/>
              <a:t>date_vente</a:t>
            </a:r>
            <a:r>
              <a:rPr lang="en-US" dirty="0"/>
              <a:t> = (</a:t>
            </a:r>
            <a:endParaRPr lang="fr-FR" dirty="0"/>
          </a:p>
          <a:p>
            <a:pPr marL="146050" indent="0">
              <a:buNone/>
            </a:pPr>
            <a:r>
              <a:rPr lang="en-US" dirty="0"/>
              <a:t>    CASE </a:t>
            </a:r>
            <a:endParaRPr lang="fr-FR" dirty="0"/>
          </a:p>
          <a:p>
            <a:pPr marL="146050" indent="0">
              <a:buNone/>
            </a:pPr>
            <a:r>
              <a:rPr lang="en-US" dirty="0"/>
              <a:t>        WHEN champs = 'Date' THEN detail</a:t>
            </a:r>
            <a:endParaRPr lang="fr-FR" dirty="0"/>
          </a:p>
          <a:p>
            <a:pPr marL="146050" indent="0">
              <a:buNone/>
            </a:pPr>
            <a:r>
              <a:rPr lang="en-US" dirty="0"/>
              <a:t>    </a:t>
            </a:r>
            <a:r>
              <a:rPr lang="fr-FR" dirty="0"/>
              <a:t>END</a:t>
            </a:r>
          </a:p>
          <a:p>
            <a:pPr marL="146050" indent="0">
              <a:buNone/>
            </a:pPr>
            <a:r>
              <a:rPr lang="fr-FR" dirty="0"/>
              <a:t>);</a:t>
            </a:r>
          </a:p>
          <a:p>
            <a:endParaRPr lang="fr-FR" dirty="0"/>
          </a:p>
        </p:txBody>
      </p:sp>
    </p:spTree>
    <p:extLst>
      <p:ext uri="{BB962C8B-B14F-4D97-AF65-F5344CB8AC3E}">
        <p14:creationId xmlns:p14="http://schemas.microsoft.com/office/powerpoint/2010/main" val="3239409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8575D-D1F4-5C4A-4825-844FE604483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C49AC5-1CDE-D870-DA69-239EB8530EFB}"/>
              </a:ext>
            </a:extLst>
          </p:cNvPr>
          <p:cNvSpPr>
            <a:spLocks noGrp="1"/>
          </p:cNvSpPr>
          <p:nvPr>
            <p:ph type="title"/>
          </p:nvPr>
        </p:nvSpPr>
        <p:spPr/>
        <p:txBody>
          <a:bodyPr>
            <a:normAutofit/>
          </a:bodyPr>
          <a:lstStyle/>
          <a:p>
            <a:r>
              <a:rPr lang="fr-FR" dirty="0"/>
              <a:t>Recommandation pour l’entreprise</a:t>
            </a:r>
            <a:br>
              <a:rPr lang="fr-FR" dirty="0"/>
            </a:br>
            <a:r>
              <a:rPr lang="fr-FR" sz="2000" dirty="0"/>
              <a:t>Mettre en place une supervision de la </a:t>
            </a:r>
            <a:r>
              <a:rPr lang="fr-FR" sz="2000" dirty="0" err="1"/>
              <a:t>database</a:t>
            </a:r>
            <a:endParaRPr lang="fr-FR" dirty="0"/>
          </a:p>
        </p:txBody>
      </p:sp>
      <p:sp>
        <p:nvSpPr>
          <p:cNvPr id="3" name="Espace réservé du texte 2">
            <a:extLst>
              <a:ext uri="{FF2B5EF4-FFF2-40B4-BE49-F238E27FC236}">
                <a16:creationId xmlns:a16="http://schemas.microsoft.com/office/drawing/2014/main" id="{094D5DBE-4A8E-3134-9495-760E3EFB373B}"/>
              </a:ext>
            </a:extLst>
          </p:cNvPr>
          <p:cNvSpPr>
            <a:spLocks noGrp="1"/>
          </p:cNvSpPr>
          <p:nvPr>
            <p:ph type="body" idx="1"/>
          </p:nvPr>
        </p:nvSpPr>
        <p:spPr/>
        <p:txBody>
          <a:bodyPr>
            <a:normAutofit fontScale="92500" lnSpcReduction="20000"/>
          </a:bodyPr>
          <a:lstStyle/>
          <a:p>
            <a:r>
              <a:rPr lang="fr-FR" dirty="0"/>
              <a:t>Une supervision technique (ici avec PostgreSQL) peut être mise en place afin de surveiller les performances, l’activité des connexions, l’utilisation des index et les statistiques des tables. Exemple avec les requêtes suivantes:</a:t>
            </a:r>
          </a:p>
          <a:p>
            <a:pPr marL="146050" lvl="0" indent="0">
              <a:buNone/>
            </a:pPr>
            <a:r>
              <a:rPr lang="fr-FR" dirty="0"/>
              <a:t>-- Pour afficher les statistiques des tables utilisateur de la base de données : </a:t>
            </a:r>
          </a:p>
          <a:p>
            <a:pPr marL="146050" indent="0">
              <a:buNone/>
            </a:pPr>
            <a:r>
              <a:rPr lang="en-US" dirty="0"/>
              <a:t>SELECT * FROM </a:t>
            </a:r>
            <a:r>
              <a:rPr lang="en-US" dirty="0" err="1"/>
              <a:t>pg_stat_user_tables</a:t>
            </a:r>
            <a:r>
              <a:rPr lang="en-US" dirty="0"/>
              <a:t>; </a:t>
            </a:r>
            <a:endParaRPr lang="fr-FR" dirty="0"/>
          </a:p>
          <a:p>
            <a:pPr marL="146050" indent="0">
              <a:buNone/>
            </a:pPr>
            <a:r>
              <a:rPr lang="fr-FR" dirty="0"/>
              <a:t>-- Identifier les tables utilisateur les plus modifiées :</a:t>
            </a:r>
          </a:p>
          <a:p>
            <a:pPr marL="146050" indent="0">
              <a:buNone/>
            </a:pPr>
            <a:r>
              <a:rPr lang="en-US" dirty="0"/>
              <a:t>SELECT</a:t>
            </a:r>
            <a:endParaRPr lang="fr-FR" dirty="0"/>
          </a:p>
          <a:p>
            <a:pPr marL="146050" indent="0">
              <a:buNone/>
            </a:pPr>
            <a:r>
              <a:rPr lang="en-US" dirty="0"/>
              <a:t>    </a:t>
            </a:r>
            <a:r>
              <a:rPr lang="en-US" dirty="0" err="1"/>
              <a:t>relname</a:t>
            </a:r>
            <a:r>
              <a:rPr lang="en-US" dirty="0"/>
              <a:t> AS </a:t>
            </a:r>
            <a:r>
              <a:rPr lang="en-US" dirty="0" err="1"/>
              <a:t>table_name</a:t>
            </a:r>
            <a:r>
              <a:rPr lang="en-US" dirty="0"/>
              <a:t>,</a:t>
            </a:r>
            <a:endParaRPr lang="fr-FR" dirty="0"/>
          </a:p>
          <a:p>
            <a:pPr marL="146050" indent="0">
              <a:buNone/>
            </a:pPr>
            <a:r>
              <a:rPr lang="en-US" dirty="0"/>
              <a:t>    </a:t>
            </a:r>
            <a:r>
              <a:rPr lang="en-US" dirty="0" err="1"/>
              <a:t>n_tup_ins</a:t>
            </a:r>
            <a:r>
              <a:rPr lang="en-US" dirty="0"/>
              <a:t> AS insertions,</a:t>
            </a:r>
            <a:endParaRPr lang="fr-FR" dirty="0"/>
          </a:p>
          <a:p>
            <a:pPr marL="146050" indent="0">
              <a:buNone/>
            </a:pPr>
            <a:r>
              <a:rPr lang="en-US" dirty="0"/>
              <a:t>    </a:t>
            </a:r>
            <a:r>
              <a:rPr lang="en-US" dirty="0" err="1"/>
              <a:t>n_tup_upd</a:t>
            </a:r>
            <a:r>
              <a:rPr lang="en-US" dirty="0"/>
              <a:t> AS updates,</a:t>
            </a:r>
            <a:endParaRPr lang="fr-FR" dirty="0"/>
          </a:p>
          <a:p>
            <a:pPr marL="146050" indent="0">
              <a:buNone/>
            </a:pPr>
            <a:r>
              <a:rPr lang="en-US" dirty="0"/>
              <a:t>    </a:t>
            </a:r>
            <a:r>
              <a:rPr lang="en-US" dirty="0" err="1"/>
              <a:t>n_tup_del</a:t>
            </a:r>
            <a:r>
              <a:rPr lang="en-US" dirty="0"/>
              <a:t> AS suppressions,</a:t>
            </a:r>
            <a:endParaRPr lang="fr-FR" dirty="0"/>
          </a:p>
          <a:p>
            <a:pPr marL="146050" indent="0">
              <a:buNone/>
            </a:pPr>
            <a:r>
              <a:rPr lang="en-US" dirty="0"/>
              <a:t>    </a:t>
            </a:r>
            <a:r>
              <a:rPr lang="en-US" dirty="0" err="1"/>
              <a:t>n_live_tup</a:t>
            </a:r>
            <a:r>
              <a:rPr lang="en-US" dirty="0"/>
              <a:t> AS </a:t>
            </a:r>
            <a:r>
              <a:rPr lang="en-US" dirty="0" err="1"/>
              <a:t>lignes_estimees</a:t>
            </a:r>
            <a:endParaRPr lang="fr-FR" dirty="0"/>
          </a:p>
          <a:p>
            <a:pPr marL="146050" indent="0">
              <a:buNone/>
            </a:pPr>
            <a:r>
              <a:rPr lang="en-US" dirty="0"/>
              <a:t>FROM </a:t>
            </a:r>
            <a:r>
              <a:rPr lang="en-US" dirty="0" err="1"/>
              <a:t>pg_stat_user_tables</a:t>
            </a:r>
            <a:endParaRPr lang="fr-FR" dirty="0"/>
          </a:p>
          <a:p>
            <a:pPr marL="146050" indent="0">
              <a:buNone/>
            </a:pPr>
            <a:r>
              <a:rPr lang="en-US" dirty="0"/>
              <a:t>ORDER BY </a:t>
            </a:r>
            <a:r>
              <a:rPr lang="en-US" dirty="0" err="1"/>
              <a:t>n_tup_ins</a:t>
            </a:r>
            <a:r>
              <a:rPr lang="en-US" dirty="0"/>
              <a:t> + </a:t>
            </a:r>
            <a:r>
              <a:rPr lang="en-US" dirty="0" err="1"/>
              <a:t>n_tup_upd</a:t>
            </a:r>
            <a:r>
              <a:rPr lang="en-US" dirty="0"/>
              <a:t> + </a:t>
            </a:r>
            <a:r>
              <a:rPr lang="en-US" dirty="0" err="1"/>
              <a:t>n_tup_del</a:t>
            </a:r>
            <a:r>
              <a:rPr lang="en-US" dirty="0"/>
              <a:t> DESC;</a:t>
            </a:r>
            <a:endParaRPr lang="fr-FR" dirty="0"/>
          </a:p>
          <a:p>
            <a:r>
              <a:rPr lang="en-US" dirty="0"/>
              <a:t> </a:t>
            </a:r>
            <a:endParaRPr lang="fr-FR" dirty="0"/>
          </a:p>
          <a:p>
            <a:endParaRPr lang="fr-FR" dirty="0"/>
          </a:p>
        </p:txBody>
      </p:sp>
      <p:pic>
        <p:nvPicPr>
          <p:cNvPr id="5" name="Image 4">
            <a:extLst>
              <a:ext uri="{FF2B5EF4-FFF2-40B4-BE49-F238E27FC236}">
                <a16:creationId xmlns:a16="http://schemas.microsoft.com/office/drawing/2014/main" id="{8DD86DEF-3492-EF94-615A-4B108A69BDFD}"/>
              </a:ext>
            </a:extLst>
          </p:cNvPr>
          <p:cNvPicPr>
            <a:picLocks noChangeAspect="1"/>
          </p:cNvPicPr>
          <p:nvPr/>
        </p:nvPicPr>
        <p:blipFill>
          <a:blip r:embed="rId2"/>
          <a:stretch>
            <a:fillRect/>
          </a:stretch>
        </p:blipFill>
        <p:spPr>
          <a:xfrm>
            <a:off x="5244353" y="2571750"/>
            <a:ext cx="3742290" cy="1818218"/>
          </a:xfrm>
          <a:prstGeom prst="rect">
            <a:avLst/>
          </a:prstGeom>
        </p:spPr>
      </p:pic>
    </p:spTree>
    <p:extLst>
      <p:ext uri="{BB962C8B-B14F-4D97-AF65-F5344CB8AC3E}">
        <p14:creationId xmlns:p14="http://schemas.microsoft.com/office/powerpoint/2010/main" val="1429962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6D52C-F36D-D347-3806-068328E7BA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696F9D-DEF4-7A30-4677-B4AAC53095C6}"/>
              </a:ext>
            </a:extLst>
          </p:cNvPr>
          <p:cNvSpPr>
            <a:spLocks noGrp="1"/>
          </p:cNvSpPr>
          <p:nvPr>
            <p:ph type="title"/>
          </p:nvPr>
        </p:nvSpPr>
        <p:spPr/>
        <p:txBody>
          <a:bodyPr>
            <a:normAutofit/>
          </a:bodyPr>
          <a:lstStyle/>
          <a:p>
            <a:r>
              <a:rPr lang="fr-FR" dirty="0"/>
              <a:t>Recommandation pour l’entreprise</a:t>
            </a:r>
            <a:br>
              <a:rPr lang="fr-FR" dirty="0"/>
            </a:br>
            <a:r>
              <a:rPr lang="fr-FR" sz="2000" dirty="0"/>
              <a:t>Restriction données personnelles</a:t>
            </a:r>
            <a:endParaRPr lang="fr-FR" dirty="0"/>
          </a:p>
        </p:txBody>
      </p:sp>
      <p:sp>
        <p:nvSpPr>
          <p:cNvPr id="3" name="Espace réservé du texte 2">
            <a:extLst>
              <a:ext uri="{FF2B5EF4-FFF2-40B4-BE49-F238E27FC236}">
                <a16:creationId xmlns:a16="http://schemas.microsoft.com/office/drawing/2014/main" id="{65D4B6B3-278E-F957-FA82-309F0BCA0F6C}"/>
              </a:ext>
            </a:extLst>
          </p:cNvPr>
          <p:cNvSpPr>
            <a:spLocks noGrp="1"/>
          </p:cNvSpPr>
          <p:nvPr>
            <p:ph type="body" idx="1"/>
          </p:nvPr>
        </p:nvSpPr>
        <p:spPr>
          <a:xfrm>
            <a:off x="1297500" y="1307850"/>
            <a:ext cx="7038900" cy="2911200"/>
          </a:xfrm>
        </p:spPr>
        <p:txBody>
          <a:bodyPr>
            <a:normAutofit fontScale="92500" lnSpcReduction="10000"/>
          </a:bodyPr>
          <a:lstStyle/>
          <a:p>
            <a:r>
              <a:rPr lang="fr-FR" dirty="0"/>
              <a:t>Supprimer ou masquer les colonnes non nécessaires à l’analyse BI, </a:t>
            </a:r>
            <a:r>
              <a:rPr lang="fr-FR" dirty="0" err="1"/>
              <a:t>hash_mdp</a:t>
            </a:r>
            <a:r>
              <a:rPr lang="fr-FR" dirty="0"/>
              <a:t>, nom, </a:t>
            </a:r>
            <a:r>
              <a:rPr lang="fr-FR" dirty="0" err="1"/>
              <a:t>prénom,mail</a:t>
            </a:r>
            <a:r>
              <a:rPr lang="fr-FR" dirty="0"/>
              <a:t>. On peut créer une vue dédiée à la Business Intelligence en tapant la commande SQL suivante :</a:t>
            </a:r>
          </a:p>
          <a:p>
            <a:pPr marL="146050" indent="0">
              <a:buNone/>
            </a:pPr>
            <a:r>
              <a:rPr lang="en-US" dirty="0"/>
              <a:t>CREATE VIEW </a:t>
            </a:r>
            <a:r>
              <a:rPr lang="en-US" dirty="0" err="1"/>
              <a:t>employe_bi</a:t>
            </a:r>
            <a:r>
              <a:rPr lang="en-US" dirty="0"/>
              <a:t> AS(</a:t>
            </a:r>
            <a:endParaRPr lang="fr-FR" dirty="0"/>
          </a:p>
          <a:p>
            <a:pPr marL="146050" indent="0">
              <a:buNone/>
            </a:pPr>
            <a:r>
              <a:rPr lang="en-US" dirty="0"/>
              <a:t>SELECT </a:t>
            </a:r>
            <a:endParaRPr lang="fr-FR" dirty="0"/>
          </a:p>
          <a:p>
            <a:pPr marL="146050" indent="0">
              <a:buNone/>
            </a:pPr>
            <a:r>
              <a:rPr lang="en-US" dirty="0" err="1"/>
              <a:t>id_employe</a:t>
            </a:r>
            <a:r>
              <a:rPr lang="en-US" dirty="0"/>
              <a:t>,</a:t>
            </a:r>
            <a:endParaRPr lang="fr-FR" dirty="0"/>
          </a:p>
          <a:p>
            <a:pPr marL="146050" indent="0">
              <a:buNone/>
            </a:pPr>
            <a:r>
              <a:rPr lang="en-US" dirty="0"/>
              <a:t>employe,</a:t>
            </a:r>
            <a:endParaRPr lang="fr-FR" dirty="0"/>
          </a:p>
          <a:p>
            <a:pPr marL="146050" indent="0">
              <a:buNone/>
            </a:pPr>
            <a:r>
              <a:rPr lang="en-US" dirty="0" err="1"/>
              <a:t>date_debut</a:t>
            </a:r>
            <a:r>
              <a:rPr lang="en-US" dirty="0"/>
              <a:t>, </a:t>
            </a:r>
            <a:endParaRPr lang="fr-FR" dirty="0"/>
          </a:p>
          <a:p>
            <a:pPr marL="146050" indent="0">
              <a:buNone/>
            </a:pPr>
            <a:r>
              <a:rPr lang="en-US" dirty="0"/>
              <a:t>SUBSTRING(mail FROM 1 FOR 3) || ‘****' AS </a:t>
            </a:r>
            <a:r>
              <a:rPr lang="en-US" dirty="0" err="1"/>
              <a:t>obscured_mail</a:t>
            </a:r>
            <a:r>
              <a:rPr lang="en-US" dirty="0"/>
              <a:t>, </a:t>
            </a:r>
            <a:endParaRPr lang="fr-FR" dirty="0"/>
          </a:p>
          <a:p>
            <a:pPr marL="146050" indent="0">
              <a:buNone/>
            </a:pPr>
            <a:r>
              <a:rPr lang="en-US" dirty="0"/>
              <a:t>SUBSTRING(</a:t>
            </a:r>
            <a:r>
              <a:rPr lang="en-US" dirty="0" err="1"/>
              <a:t>hash_mdp</a:t>
            </a:r>
            <a:r>
              <a:rPr lang="en-US" dirty="0"/>
              <a:t> FROM 1 FOR 3) || ‘****' AS </a:t>
            </a:r>
            <a:r>
              <a:rPr lang="en-US" dirty="0" err="1"/>
              <a:t>obscured_hash_mdp</a:t>
            </a:r>
            <a:r>
              <a:rPr lang="en-US" dirty="0"/>
              <a:t>, </a:t>
            </a:r>
            <a:endParaRPr lang="fr-FR" dirty="0"/>
          </a:p>
          <a:p>
            <a:pPr marL="146050" indent="0">
              <a:buNone/>
            </a:pPr>
            <a:r>
              <a:rPr lang="fr-FR" dirty="0"/>
              <a:t>FROM </a:t>
            </a:r>
            <a:r>
              <a:rPr lang="fr-FR" dirty="0" err="1"/>
              <a:t>employe</a:t>
            </a:r>
            <a:endParaRPr lang="fr-FR" dirty="0"/>
          </a:p>
          <a:p>
            <a:pPr marL="146050" indent="0">
              <a:buNone/>
            </a:pPr>
            <a:r>
              <a:rPr lang="fr-FR" dirty="0"/>
              <a:t>);</a:t>
            </a:r>
          </a:p>
          <a:p>
            <a:pPr marL="146050" indent="0">
              <a:buNone/>
            </a:pPr>
            <a:endParaRPr lang="fr-FR" dirty="0"/>
          </a:p>
          <a:p>
            <a:pPr marL="146050" indent="0">
              <a:buNone/>
            </a:pPr>
            <a:r>
              <a:rPr lang="fr-FR" dirty="0"/>
              <a:t>SELECT * FROM </a:t>
            </a:r>
            <a:r>
              <a:rPr lang="fr-FR" dirty="0" err="1"/>
              <a:t>employe_bi</a:t>
            </a:r>
            <a:r>
              <a:rPr lang="fr-FR" dirty="0"/>
              <a:t>;</a:t>
            </a:r>
          </a:p>
          <a:p>
            <a:endParaRPr lang="fr-FR" dirty="0"/>
          </a:p>
          <a:p>
            <a:endParaRPr lang="fr-FR" dirty="0"/>
          </a:p>
        </p:txBody>
      </p:sp>
      <p:pic>
        <p:nvPicPr>
          <p:cNvPr id="6" name="Image 5">
            <a:extLst>
              <a:ext uri="{FF2B5EF4-FFF2-40B4-BE49-F238E27FC236}">
                <a16:creationId xmlns:a16="http://schemas.microsoft.com/office/drawing/2014/main" id="{EDC59DEB-B80E-6880-2093-3F744C90BE4F}"/>
              </a:ext>
            </a:extLst>
          </p:cNvPr>
          <p:cNvPicPr>
            <a:picLocks noChangeAspect="1"/>
          </p:cNvPicPr>
          <p:nvPr/>
        </p:nvPicPr>
        <p:blipFill>
          <a:blip r:embed="rId2"/>
          <a:stretch>
            <a:fillRect/>
          </a:stretch>
        </p:blipFill>
        <p:spPr>
          <a:xfrm>
            <a:off x="4685186" y="3327601"/>
            <a:ext cx="4360910" cy="1805549"/>
          </a:xfrm>
          <a:prstGeom prst="rect">
            <a:avLst/>
          </a:prstGeom>
        </p:spPr>
      </p:pic>
    </p:spTree>
    <p:extLst>
      <p:ext uri="{BB962C8B-B14F-4D97-AF65-F5344CB8AC3E}">
        <p14:creationId xmlns:p14="http://schemas.microsoft.com/office/powerpoint/2010/main" val="2385679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a:t>Conclusion</a:t>
            </a:r>
            <a:endParaRPr/>
          </a:p>
        </p:txBody>
      </p:sp>
      <p:sp>
        <p:nvSpPr>
          <p:cNvPr id="2" name="Google Shape;141;p14">
            <a:extLst>
              <a:ext uri="{FF2B5EF4-FFF2-40B4-BE49-F238E27FC236}">
                <a16:creationId xmlns:a16="http://schemas.microsoft.com/office/drawing/2014/main" id="{722CD8E7-9D36-EE44-12F0-ABB8A5FC2A2C}"/>
              </a:ext>
            </a:extLst>
          </p:cNvPr>
          <p:cNvSpPr txBox="1">
            <a:spLocks/>
          </p:cNvSpPr>
          <p:nvPr/>
        </p:nvSpPr>
        <p:spPr>
          <a:xfrm>
            <a:off x="147776" y="2230650"/>
            <a:ext cx="5768930" cy="2911200"/>
          </a:xfrm>
          <a:prstGeom prst="rect">
            <a:avLst/>
          </a:prstGeom>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dirty="0">
                <a:solidFill>
                  <a:schemeClr val="bg1"/>
                </a:solidFill>
              </a:rPr>
              <a:t>L’audit a confirmé que le chiffre d’affaires correct du 14 août 2024 est de 284 243,88 €.</a:t>
            </a:r>
          </a:p>
          <a:p>
            <a:r>
              <a:rPr lang="fr-FR" dirty="0">
                <a:solidFill>
                  <a:schemeClr val="bg1"/>
                </a:solidFill>
              </a:rPr>
              <a:t>L’écart avec le premier montant observé, soit 275 186,59 €, s’explique par l’intégration tardive de certaines ventes. Ces ventes, bien que rattachées à la journée du 14 août 2024, ont été insérées le 15 août 2024.</a:t>
            </a:r>
          </a:p>
          <a:p>
            <a:r>
              <a:rPr lang="fr-FR" dirty="0">
                <a:solidFill>
                  <a:schemeClr val="bg1"/>
                </a:solidFill>
              </a:rPr>
              <a:t>Le problème principal n’est donc pas un problème de calcul du chiffre d’affaires, mais un problème de fiabilité du processus d’intégration et de publication des données.</a:t>
            </a:r>
          </a:p>
          <a:p>
            <a:r>
              <a:rPr lang="fr-FR" dirty="0">
                <a:solidFill>
                  <a:schemeClr val="bg1"/>
                </a:solidFill>
              </a:rPr>
              <a:t>La mise en œuvre de ces actions est importante pour restaurer la confiance dans les indicateurs BI et permettre à </a:t>
            </a:r>
            <a:r>
              <a:rPr lang="fr-FR" dirty="0" err="1">
                <a:solidFill>
                  <a:schemeClr val="bg1"/>
                </a:solidFill>
              </a:rPr>
              <a:t>SuperSmartMarket</a:t>
            </a:r>
            <a:r>
              <a:rPr lang="fr-FR" dirty="0">
                <a:solidFill>
                  <a:schemeClr val="bg1"/>
                </a:solidFill>
              </a:rPr>
              <a:t> de poursuivre son ambition de personnalisation client sur des bases de données fiables.</a:t>
            </a:r>
          </a:p>
          <a:p>
            <a:endParaRPr lang="fr-FR" dirty="0">
              <a:solidFill>
                <a:schemeClr val="bg1"/>
              </a:solidFill>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1989</Words>
  <Application>Microsoft Office PowerPoint</Application>
  <PresentationFormat>Affichage à l'écran (16:9)</PresentationFormat>
  <Paragraphs>219</Paragraphs>
  <Slides>18</Slides>
  <Notes>12</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2</vt:i4>
      </vt:variant>
      <vt:variant>
        <vt:lpstr>Titres des diapositives</vt:lpstr>
      </vt:variant>
      <vt:variant>
        <vt:i4>18</vt:i4>
      </vt:variant>
    </vt:vector>
  </HeadingPairs>
  <TitlesOfParts>
    <vt:vector size="26" baseType="lpstr">
      <vt:lpstr>Lato</vt:lpstr>
      <vt:lpstr>Segoe UI</vt:lpstr>
      <vt:lpstr>Inter</vt:lpstr>
      <vt:lpstr>Arial</vt:lpstr>
      <vt:lpstr>Montserrat</vt:lpstr>
      <vt:lpstr>Focus</vt:lpstr>
      <vt:lpstr>Worksheet</vt:lpstr>
      <vt:lpstr>Objet d’environnement du Gestionnaire de liaisons</vt:lpstr>
      <vt:lpstr>AUDIT :  Erreur sur le Cube OLAP </vt:lpstr>
      <vt:lpstr>Présentation de la mission</vt:lpstr>
      <vt:lpstr>Analyse de la base de données Architecture de l’entreprise</vt:lpstr>
      <vt:lpstr>Analyse de la base de données Dictionnaire des données du fichier OLAP schéma relationnel</vt:lpstr>
      <vt:lpstr>Présentation PowerPoint</vt:lpstr>
      <vt:lpstr>Présentation du prototype de BDD Explication de la base de données</vt:lpstr>
      <vt:lpstr>Résultat des requêtes SQL Le chiffre d’affaires total pour le 14 Août</vt:lpstr>
      <vt:lpstr>Résultat des requêtes SQL Le chiffre d’affaires par client pour le top 10 des clients</vt:lpstr>
      <vt:lpstr>Résultat des requêtes SQL Le chiffre d’affaires encaissé par employé </vt:lpstr>
      <vt:lpstr>Analyse des logs Dictionnaire des données et explications</vt:lpstr>
      <vt:lpstr>Compréhension des problèmes sur la base des logs</vt:lpstr>
      <vt:lpstr>Recommandations pour l’entreprise</vt:lpstr>
      <vt:lpstr>Recommandations pour l’entreprise Evaluation des risques</vt:lpstr>
      <vt:lpstr>Recommandations pour l’entreprise</vt:lpstr>
      <vt:lpstr>Recommandations pour l’entreprise Distinguer date insertion et date achat</vt:lpstr>
      <vt:lpstr>Recommandation pour l’entreprise Mettre en place une supervision de la database</vt:lpstr>
      <vt:lpstr>Recommandation pour l’entreprise Restriction données personnelles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Sébastien Ulésie</dc:creator>
  <cp:lastModifiedBy>Sébastien Ulésie</cp:lastModifiedBy>
  <cp:revision>21</cp:revision>
  <dcterms:modified xsi:type="dcterms:W3CDTF">2026-05-17T18:14:54Z</dcterms:modified>
</cp:coreProperties>
</file>